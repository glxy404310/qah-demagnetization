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各位老师好。我汇报这个电磁学课程项目的进展。题目是《基于微磁学模拟探讨量子反常霍尔效应的退磁场效应》。目前理论学习已经完成，模拟即将启动，今天主要讲已经做完的准备和下一步安排。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项目要回答的是：改变薄膜形状和厚度，退磁场怎么变；它和交换、各向异性的竞争，能不能让磁化更稳地指向面外。注意，微磁学只说明磁性条件，不算霍尔电导，结论会严格限定在这里。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计划分五个阶段。理论学习和资料准备已完成；基准模拟是下一步；形状比较、数据分析、总结还没开始。资料、解析校验和脚本骨架都就绪，但这台电脑还没有任何微磁求解器，薄膜模型一次都没跑过。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理论部分拆成五个专题：电磁学基础、四种能量竞争、LLG 与参数、QAH 背景、退磁因子与校验。每份都有 PDF、HTML 或 Markdown，附自测题，来源可查。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第一个结论：均匀态下面外是否有利，看 K_eff 的符号。用 200×200×4 的教学参数，阈值约 5.2 乘 10 的 4 次方，小于 K_u 的 8 乘 10 的 4 次方，所以 K_eff 约 2.8 乘 10 的 4 次方，是正的。但这只比较均匀态，大样品仍可能分畴。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第二个结论是形状。同面积同厚度把方形改成长条，N_z 几乎不动，变的是面内 N_x、N_y；真正拉低 N_z 的是厚度。还有两个坑：中心点不等于体积平均，差 4.4%；无限薄膜 N_z=1 会高估 6.3%。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能离线验证的都验了：解析退磁因子对 OOMMF 基准到 10 的负 15 次方量级，单磁矩 LLG 到 10 的负 12 次方。但薄膜脚本因为本机没有 Fidimag 还没跑，目前没有任何薄膜结果，这点我不会含糊。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下一步四件事：定软件、锁参数、做静态校验，再跑三形状、磁畴、磁滞和收敛。软件路线还没定：这台机器有 RTX 5060，但新显卡和旧版 MuMax3 可能不兼容，也可能走 OOMMF 或 WSL 加 Fidimag。谢谢。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70432"/>
            <a:ext cx="50292" cy="3063240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1556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0">
                <a:solidFill>
                  <a:srgbClr val="136C69"/>
                </a:solidFill>
                <a:latin typeface="Segoe UI"/>
                <a:ea typeface="Microsoft YaHei"/>
              </a:rPr>
              <a:t>电磁学课程项目 · 阶段汇报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6949440" cy="1874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72E36"/>
                </a:solidFill>
                <a:latin typeface="Segoe UI"/>
                <a:ea typeface="Microsoft YaHei"/>
              </a:rPr>
              <a:t>基于微磁学模拟探讨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72E36"/>
                </a:solidFill>
                <a:latin typeface="Segoe UI"/>
                <a:ea typeface="Microsoft YaHei"/>
              </a:rPr>
              <a:t>量子反常霍尔效应的退磁场效应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93008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A4A50"/>
                </a:solidFill>
                <a:latin typeface="Segoe UI"/>
                <a:ea typeface="Microsoft YaHei"/>
              </a:rPr>
              <a:t>理论学习完成情况与下一步计划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05072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3676D"/>
                </a:solidFill>
                <a:latin typeface="Segoe UI"/>
                <a:ea typeface="Microsoft YaHei"/>
              </a:rPr>
              <a:t>2026 年 10 月 · 理论学习阶段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794760" cy="2880360"/>
          </a:xfrm>
          <a:prstGeom prst="roundRect">
            <a:avLst>
              <a:gd name="adj" fmla="val 6000"/>
            </a:avLst>
          </a:prstGeom>
          <a:solidFill>
            <a:srgbClr val="E9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3218688"/>
            <a:ext cx="2971800" cy="146304"/>
          </a:xfrm>
          <a:prstGeom prst="rect">
            <a:avLst/>
          </a:prstGeom>
          <a:solidFill>
            <a:srgbClr val="172E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9528048" y="2212848"/>
            <a:ext cx="237744" cy="868680"/>
          </a:xfrm>
          <a:prstGeom prst="upArrow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239572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6C69"/>
                </a:solidFill>
                <a:latin typeface="Segoe UI"/>
                <a:ea typeface="Microsoft YaHei"/>
              </a:rPr>
              <a:t>M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528048" y="3520440"/>
            <a:ext cx="237744" cy="658368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93808" y="36393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45309"/>
                </a:solidFill>
                <a:latin typeface="Segoe UI"/>
                <a:ea typeface="Microsoft YaHei"/>
              </a:rPr>
              <a:t>H</a:t>
            </a:r>
            <a:r>
              <a:rPr sz="1008" b="1" i="0" baseline="-25000">
                <a:solidFill>
                  <a:srgbClr val="B45309"/>
                </a:solidFill>
                <a:latin typeface="Segoe UI"/>
                <a:ea typeface="Microsoft YaHei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38912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76D"/>
                </a:solidFill>
                <a:latin typeface="Segoe UI"/>
                <a:ea typeface="Microsoft YaHei"/>
              </a:rPr>
              <a:t>面外磁化与退磁场方向相反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38928"/>
            <a:ext cx="34290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5175504"/>
            <a:ext cx="292608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6C69"/>
                </a:solidFill>
                <a:latin typeface="Segoe UI"/>
                <a:ea typeface="Microsoft YaHei"/>
              </a:rPr>
              <a:t>5</a:t>
            </a:r>
            <a:r>
              <a:rPr sz="1200" b="0" i="0">
                <a:solidFill>
                  <a:srgbClr val="3A4A50"/>
                </a:solidFill>
                <a:latin typeface="Segoe UI"/>
                <a:ea typeface="Microsoft YaHei"/>
              </a:rPr>
              <a:t>    </a:t>
            </a:r>
            <a:r>
              <a:rPr sz="1200" b="0" i="0">
                <a:solidFill>
                  <a:srgbClr val="3A4A50"/>
                </a:solidFill>
                <a:latin typeface="Segoe UI"/>
                <a:ea typeface="Microsoft YaHei"/>
              </a:rPr>
              <a:t>份专题资料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138928"/>
            <a:ext cx="34290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5175504"/>
            <a:ext cx="292608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6C69"/>
                </a:solidFill>
                <a:latin typeface="Segoe UI"/>
                <a:ea typeface="Microsoft YaHei"/>
              </a:rPr>
              <a:t>2</a:t>
            </a:r>
            <a:r>
              <a:rPr sz="1200" b="0" i="0">
                <a:solidFill>
                  <a:srgbClr val="3A4A50"/>
                </a:solidFill>
                <a:latin typeface="Segoe UI"/>
                <a:ea typeface="Microsoft YaHei"/>
              </a:rPr>
              <a:t>    </a:t>
            </a:r>
            <a:r>
              <a:rPr sz="1200" b="0" i="0">
                <a:solidFill>
                  <a:srgbClr val="3A4A50"/>
                </a:solidFill>
                <a:latin typeface="Segoe UI"/>
                <a:ea typeface="Microsoft YaHei"/>
              </a:rPr>
              <a:t>项数值校验通过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5138928"/>
            <a:ext cx="34290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5175504"/>
            <a:ext cx="292608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6C69"/>
                </a:solidFill>
                <a:latin typeface="Segoe UI"/>
                <a:ea typeface="Microsoft YaHei"/>
              </a:rPr>
              <a:t>3</a:t>
            </a:r>
            <a:r>
              <a:rPr sz="1200" b="0" i="0">
                <a:solidFill>
                  <a:srgbClr val="3A4A50"/>
                </a:solidFill>
                <a:latin typeface="Segoe UI"/>
                <a:ea typeface="Microsoft YaHei"/>
              </a:rPr>
              <a:t>    </a:t>
            </a:r>
            <a:r>
              <a:rPr sz="1200" b="0" i="0">
                <a:solidFill>
                  <a:srgbClr val="3A4A50"/>
                </a:solidFill>
                <a:latin typeface="Segoe UI"/>
                <a:ea typeface="Microsoft YaHei"/>
              </a:rPr>
              <a:t>种几何退磁因子已算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136C69"/>
                </a:solidFill>
                <a:latin typeface="Segoe UI"/>
                <a:ea typeface="Microsoft YaHei"/>
              </a:rPr>
              <a:t>01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  </a:t>
            </a:r>
            <a:r>
              <a:rPr sz="1100" b="0" i="0" spc="150">
                <a:solidFill>
                  <a:srgbClr val="136C69"/>
                </a:solidFill>
                <a:latin typeface="Segoe UI"/>
                <a:ea typeface="Microsoft YaHei"/>
              </a:rP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形状改变退磁场，退磁场决定面外磁化能不能稳住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90472"/>
            <a:ext cx="1051560" cy="32004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020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84832"/>
            <a:ext cx="16550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形状与厚度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正方形 · 圆形 · 长方形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92908" y="2688336"/>
            <a:ext cx="146304" cy="274320"/>
          </a:xfrm>
          <a:prstGeom prst="rightArrow">
            <a:avLst/>
          </a:prstGeom>
          <a:solidFill>
            <a:srgbClr val="9FB6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62072" y="1920240"/>
            <a:ext cx="2020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084832"/>
            <a:ext cx="16550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395728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退磁场与退磁能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H</a:t>
            </a:r>
            <a:r>
              <a:rPr sz="756" b="0" i="0" baseline="-25000">
                <a:solidFill>
                  <a:srgbClr val="53676D"/>
                </a:solidFill>
                <a:latin typeface="Segoe UI"/>
                <a:ea typeface="Microsoft YaHei"/>
              </a:rPr>
              <a:t>d</a:t>
            </a: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 与 E</a:t>
            </a:r>
            <a:r>
              <a:rPr sz="756" b="0" i="0" baseline="-25000">
                <a:solidFill>
                  <a:srgbClr val="53676D"/>
                </a:solidFill>
                <a:latin typeface="Segoe UI"/>
                <a:ea typeface="Microsoft YaHei"/>
              </a:rPr>
              <a:t>d</a:t>
            </a: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 随几何改变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14900" y="2688336"/>
            <a:ext cx="146304" cy="274320"/>
          </a:xfrm>
          <a:prstGeom prst="rightArrow">
            <a:avLst/>
          </a:prstGeom>
          <a:solidFill>
            <a:srgbClr val="9FB6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4064" y="1920240"/>
            <a:ext cx="2020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2084832"/>
            <a:ext cx="16550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395728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与交换、各向异性竞争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总能量决定平衡态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36892" y="2688336"/>
            <a:ext cx="146304" cy="274320"/>
          </a:xfrm>
          <a:prstGeom prst="rightArrow">
            <a:avLst/>
          </a:prstGeom>
          <a:solidFill>
            <a:srgbClr val="9FB6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06056" y="1920240"/>
            <a:ext cx="2020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2084832"/>
            <a:ext cx="16550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395728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面外磁化与磁畴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剩磁、边缘倾斜、翻转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920240"/>
            <a:ext cx="2020824" cy="1828800"/>
          </a:xfrm>
          <a:prstGeom prst="roundRect">
            <a:avLst>
              <a:gd name="adj" fmla="val 6000"/>
            </a:avLst>
          </a:prstGeom>
          <a:solidFill>
            <a:srgbClr val="E9F1EA"/>
          </a:solidFill>
          <a:ln w="15875">
            <a:solidFill>
              <a:srgbClr val="136C6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2084832"/>
            <a:ext cx="16550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395728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36C69"/>
                </a:solidFill>
                <a:latin typeface="Segoe UI"/>
                <a:ea typeface="Microsoft YaHei"/>
              </a:rPr>
              <a:t>QAH 的磁性条件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36C69"/>
                </a:solidFill>
                <a:latin typeface="Segoe UI"/>
                <a:ea typeface="Microsoft YaHei"/>
              </a:rPr>
              <a:t>只走到这里为止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70832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370832"/>
            <a:ext cx="50292" cy="1371600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517136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36C69"/>
                </a:solidFill>
                <a:latin typeface="Segoe UI"/>
                <a:ea typeface="Microsoft YaHei"/>
              </a:rPr>
              <a:t>本项目的解释边界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773168"/>
            <a:ext cx="104086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0"/>
                </a:solidFill>
                <a:latin typeface="Segoe UI"/>
                <a:ea typeface="Microsoft YaHei"/>
              </a:rPr>
              <a:t>微磁学能回答磁化与磁畴是否稳定，不能计算陈数、能隙或霍尔电导。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A4A50"/>
                </a:solidFill>
                <a:latin typeface="Segoe UI"/>
                <a:ea typeface="Microsoft YaHei"/>
              </a:rPr>
              <a:t>因此结论只表述为“为 QAH 提供更有利的磁性条件”，不涉及输运证据。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研究范围见 README.md 与 4-QAH基本概念与面外磁化学习指南.md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136C69"/>
                </a:solidFill>
                <a:latin typeface="Segoe UI"/>
                <a:ea typeface="Microsoft YaHei"/>
              </a:rPr>
              <a:t>02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  </a:t>
            </a:r>
            <a:r>
              <a:rPr sz="1100" b="0" i="0" spc="150">
                <a:solidFill>
                  <a:srgbClr val="136C69"/>
                </a:solidFill>
                <a:latin typeface="Segoe UI"/>
                <a:ea typeface="Microsoft YaHei"/>
              </a:rPr>
              <a:t>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理论阶段完成，模拟阶段待启动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90472"/>
            <a:ext cx="1051560" cy="32004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6712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Microsoft YaHei"/>
              </a:rPr>
              <a:t>理论学习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15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  <a:ea typeface="Microsoft YaHei"/>
              </a:rPr>
              <a:t>✓ 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36C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16712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6C69"/>
                </a:solidFill>
                <a:latin typeface="Segoe UI"/>
                <a:ea typeface="Microsoft YaHei"/>
              </a:rPr>
              <a:t>基准模拟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715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36C69"/>
                </a:solidFill>
                <a:latin typeface="Segoe UI"/>
                <a:ea typeface="Microsoft YaHei"/>
              </a:rPr>
              <a:t>当前位置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216712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3676D"/>
                </a:solidFill>
                <a:latin typeface="Segoe UI"/>
                <a:ea typeface="Microsoft YaHei"/>
              </a:rPr>
              <a:t>形状比较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2715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待启动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216712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3676D"/>
                </a:solidFill>
                <a:latin typeface="Segoe UI"/>
                <a:ea typeface="Microsoft YaHei"/>
              </a:rPr>
              <a:t>数据分析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4" y="2715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待启动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91472" y="19659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1" y="216712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3676D"/>
                </a:solidFill>
                <a:latin typeface="Segoe UI"/>
                <a:ea typeface="Microsoft YaHei"/>
              </a:rPr>
              <a:t>总结优化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1" y="2715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待启动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160520"/>
            <a:ext cx="50292" cy="1371600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306824"/>
            <a:ext cx="1045433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36C69"/>
                </a:solidFill>
                <a:latin typeface="Segoe UI"/>
                <a:ea typeface="Microsoft YaHei"/>
              </a:rPr>
              <a:t>现在的位置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672584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E36"/>
                </a:solidFill>
                <a:latin typeface="Segoe UI"/>
                <a:ea typeface="Microsoft YaHei"/>
              </a:rPr>
              <a:t>已就绪：</a:t>
            </a:r>
            <a:r>
              <a:rPr sz="1300" b="0" i="0">
                <a:solidFill>
                  <a:srgbClr val="3A4A50"/>
                </a:solidFill>
                <a:latin typeface="Segoe UI"/>
                <a:ea typeface="Microsoft YaHei"/>
              </a:rPr>
              <a:t>5 份专题资料、2 项数值校验、可复现的解析脚本。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  <a:ea typeface="Microsoft YaHei"/>
              </a:rPr>
              <a:t>尚未具备：</a:t>
            </a:r>
            <a:r>
              <a:rPr sz="1300" b="0" i="0">
                <a:solidFill>
                  <a:srgbClr val="3A4A50"/>
                </a:solidFill>
                <a:latin typeface="Segoe UI"/>
                <a:ea typeface="Microsoft YaHei"/>
              </a:rPr>
              <a:t>本机没有 MuMax3 / Fidimag / OOMMF，薄膜模型一次都还没有跑过。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阶段划分见 README.md 第 8 节；求解器与 GPU 检查于 2026-10-25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136C69"/>
                </a:solidFill>
                <a:latin typeface="Segoe UI"/>
                <a:ea typeface="Microsoft YaHei"/>
              </a:rPr>
              <a:t>03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  </a:t>
            </a:r>
            <a:r>
              <a:rPr sz="1100" b="0" i="0" spc="150">
                <a:solidFill>
                  <a:srgbClr val="136C69"/>
                </a:solidFill>
                <a:latin typeface="Segoe UI"/>
                <a:ea typeface="Microsoft YaHei"/>
              </a:rPr>
              <a:t>理论学习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五份专题，覆盖“电磁学 → 微磁学 → QAH”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90472"/>
            <a:ext cx="1051560" cy="32004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38528"/>
            <a:ext cx="350215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66544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40864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E36"/>
                </a:solidFill>
                <a:latin typeface="Segoe UI"/>
                <a:ea typeface="Microsoft YaHei"/>
              </a:rPr>
              <a:t>磁化与退磁场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24912"/>
            <a:ext cx="309981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MIT 第 9 章 9.1 / 9.2 / 9.5 全文中译注；M、H、B、边界条件与等效磁荷。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83280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36C69"/>
                </a:solidFill>
                <a:latin typeface="Segoe UI"/>
                <a:ea typeface="Microsoft YaHei"/>
              </a:rPr>
              <a:t>→ 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能解释 M、H、B 与边界条件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38528"/>
            <a:ext cx="350215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66544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40864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E36"/>
                </a:solidFill>
                <a:latin typeface="Segoe UI"/>
                <a:ea typeface="Microsoft YaHei"/>
              </a:rPr>
              <a:t>四种能量竞争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24912"/>
            <a:ext cx="309981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交换 · 各向异性 · 退磁 · 塞曼；畴壁宽度 Δ=√(A/K)、有效各向异性判据与自测题。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383280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36C69"/>
                </a:solidFill>
                <a:latin typeface="Segoe UI"/>
                <a:ea typeface="Microsoft YaHei"/>
              </a:rPr>
              <a:t>→ 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能判断面外方向是否有利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938528"/>
            <a:ext cx="350215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66544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40864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E36"/>
                </a:solidFill>
                <a:latin typeface="Segoe UI"/>
                <a:ea typeface="Microsoft YaHei"/>
              </a:rPr>
              <a:t>LLG 与材料参数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24912"/>
            <a:ext cx="309981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两套单位制必须成对使用；LLG 推导、弛豫设置，附 8 条原页勘误。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383280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36C69"/>
                </a:solidFill>
                <a:latin typeface="Segoe UI"/>
                <a:ea typeface="Microsoft YaHei"/>
              </a:rPr>
              <a:t>→ 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能读懂并设置一次弛豫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68496"/>
            <a:ext cx="350215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096511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37083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E36"/>
                </a:solidFill>
                <a:latin typeface="Segoe UI"/>
                <a:ea typeface="Microsoft YaHei"/>
              </a:rPr>
              <a:t>QAH 与面外磁化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754880"/>
            <a:ext cx="309981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面外磁化打开质量隙，面内只移动狄拉克点；明确“不能证明 QAH”的边界。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413248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36C69"/>
                </a:solidFill>
                <a:latin typeface="Segoe UI"/>
                <a:ea typeface="Microsoft YaHei"/>
              </a:rPr>
              <a:t>→ 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能说清结论的适用边界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968496"/>
            <a:ext cx="350215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096511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37083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E36"/>
                </a:solidFill>
                <a:latin typeface="Segoe UI"/>
                <a:ea typeface="Microsoft YaHei"/>
              </a:rPr>
              <a:t>退磁因子与校验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754880"/>
            <a:ext cx="309981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椭球与长方体；体积平均、中心点两种定义；可运行的解析计算脚本。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5413248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36C69"/>
                </a:solidFill>
                <a:latin typeface="Segoe UI"/>
                <a:ea typeface="Microsoft YaHei"/>
              </a:rPr>
              <a:t>→ 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能算 N 并做数值校验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968496"/>
            <a:ext cx="3502152" cy="1847088"/>
          </a:xfrm>
          <a:prstGeom prst="roundRect">
            <a:avLst>
              <a:gd name="adj" fmla="val 6000"/>
            </a:avLst>
          </a:prstGeom>
          <a:solidFill>
            <a:srgbClr val="E9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4096511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37083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6C69"/>
                </a:solidFill>
                <a:latin typeface="Segoe UI"/>
                <a:ea typeface="Microsoft YaHei"/>
              </a:rPr>
              <a:t>资料形态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754880"/>
            <a:ext cx="309981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36C69"/>
                </a:solidFill>
                <a:latin typeface="Segoe UI"/>
                <a:ea typeface="Microsoft YaHei"/>
              </a:rPr>
              <a:t>三种格式成稿 · 自测题 · 来源清单 · HTML 渲染审校。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5413248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36C69"/>
                </a:solidFill>
                <a:latin typeface="Segoe UI"/>
                <a:ea typeface="Microsoft YaHei"/>
              </a:rPr>
              <a:t>→ </a:t>
            </a:r>
            <a:r>
              <a:rPr sz="900" b="0" i="0">
                <a:solidFill>
                  <a:srgbClr val="136C69"/>
                </a:solidFill>
                <a:latin typeface="Segoe UI"/>
                <a:ea typeface="Microsoft YaHei"/>
              </a:rPr>
              <a:t>三格式可读、来源可查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详细内容见 理论学习资料/ 下五份专题文档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136C69"/>
                </a:solidFill>
                <a:latin typeface="Segoe UI"/>
                <a:ea typeface="Microsoft YaHei"/>
              </a:rPr>
              <a:t>04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  </a:t>
            </a:r>
            <a:r>
              <a:rPr sz="1100" b="0" i="0" spc="150">
                <a:solidFill>
                  <a:srgbClr val="136C69"/>
                </a:solidFill>
                <a:latin typeface="Segoe UI"/>
                <a:ea typeface="Microsoft YaHei"/>
              </a:rPr>
              <a:t>结论一 · 能量竞争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面外是否有利，看 </a:t>
            </a: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K</a:t>
            </a:r>
            <a:r>
              <a:rPr sz="2016" b="1" i="0" baseline="-25000">
                <a:solidFill>
                  <a:srgbClr val="172E36"/>
                </a:solidFill>
                <a:latin typeface="Segoe UI"/>
                <a:ea typeface="Microsoft YaHei"/>
              </a:rPr>
              <a:t>eff</a:t>
            </a: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 的符号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90472"/>
            <a:ext cx="1051560" cy="32004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9384"/>
            <a:ext cx="36576" cy="658368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交换能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03703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让磁化在空间上平滑，不选择绝对方向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62072"/>
            <a:ext cx="36576" cy="658368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0720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各向异性能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36391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K</a:t>
            </a:r>
            <a:r>
              <a:rPr sz="792" b="0" i="0" baseline="-25000">
                <a:solidFill>
                  <a:srgbClr val="53676D"/>
                </a:solidFill>
                <a:latin typeface="Segoe UI"/>
                <a:ea typeface="Microsoft YaHei"/>
              </a:rPr>
              <a:t>u</a:t>
            </a: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 &gt; 0 时偏好 ±z，即面外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94759"/>
            <a:ext cx="36576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739896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退磁能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690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偏好面内或分畴；代价由 N 决定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27447"/>
            <a:ext cx="36576" cy="658368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72583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外场能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00176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3676D"/>
                </a:solidFill>
                <a:latin typeface="Segoe UI"/>
                <a:ea typeface="Microsoft YaHei"/>
              </a:rPr>
              <a:t>偏好沿外场，区分 +z 与 −z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1874519"/>
            <a:ext cx="5623560" cy="1188720"/>
          </a:xfrm>
          <a:prstGeom prst="roundRect">
            <a:avLst>
              <a:gd name="adj" fmla="val 6000"/>
            </a:avLst>
          </a:prstGeom>
          <a:solidFill>
            <a:srgbClr val="E9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5681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136C69"/>
                </a:solidFill>
                <a:latin typeface="Segoe UI"/>
                <a:ea typeface="Microsoft YaHei"/>
              </a:rPr>
              <a:t>均匀态判据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3113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E36"/>
                </a:solidFill>
                <a:latin typeface="Segoe UI"/>
                <a:ea typeface="Microsoft YaHei"/>
              </a:rPr>
              <a:t>K</a:t>
            </a:r>
            <a:r>
              <a:rPr sz="1439" b="1" i="0" baseline="-25000">
                <a:solidFill>
                  <a:srgbClr val="172E36"/>
                </a:solidFill>
                <a:latin typeface="Segoe UI"/>
                <a:ea typeface="Microsoft YaHei"/>
              </a:rPr>
              <a:t>eff</a:t>
            </a:r>
            <a:r>
              <a:rPr sz="2000" b="1" i="0">
                <a:solidFill>
                  <a:srgbClr val="172E36"/>
                </a:solidFill>
                <a:latin typeface="Segoe UI"/>
                <a:ea typeface="Microsoft YaHei"/>
              </a:rPr>
              <a:t> = K</a:t>
            </a:r>
            <a:r>
              <a:rPr sz="1439" b="1" i="0" baseline="-25000">
                <a:solidFill>
                  <a:srgbClr val="172E36"/>
                </a:solidFill>
                <a:latin typeface="Segoe UI"/>
                <a:ea typeface="Microsoft YaHei"/>
              </a:rPr>
              <a:t>u</a:t>
            </a:r>
            <a:r>
              <a:rPr sz="2000" b="1" i="0">
                <a:solidFill>
                  <a:srgbClr val="172E36"/>
                </a:solidFill>
                <a:latin typeface="Segoe UI"/>
                <a:ea typeface="Microsoft YaHei"/>
              </a:rPr>
              <a:t> − (μ</a:t>
            </a:r>
            <a:r>
              <a:rPr sz="1439" b="1" i="0" baseline="-25000">
                <a:solidFill>
                  <a:srgbClr val="172E36"/>
                </a:solidFill>
                <a:latin typeface="Segoe UI"/>
                <a:ea typeface="Microsoft YaHei"/>
              </a:rPr>
              <a:t>0</a:t>
            </a:r>
            <a:r>
              <a:rPr sz="2000" b="1" i="0">
                <a:solidFill>
                  <a:srgbClr val="172E36"/>
                </a:solidFill>
                <a:latin typeface="Segoe UI"/>
                <a:ea typeface="Microsoft YaHei"/>
              </a:rPr>
              <a:t>M</a:t>
            </a:r>
            <a:r>
              <a:rPr sz="1439" b="1" i="0" baseline="-25000">
                <a:solidFill>
                  <a:srgbClr val="172E36"/>
                </a:solidFill>
                <a:latin typeface="Segoe UI"/>
                <a:ea typeface="Microsoft YaHei"/>
              </a:rPr>
              <a:t>s</a:t>
            </a:r>
            <a:r>
              <a:rPr sz="2000" b="1" i="0">
                <a:solidFill>
                  <a:srgbClr val="172E36"/>
                </a:solidFill>
                <a:latin typeface="Segoe UI"/>
                <a:ea typeface="Microsoft YaHei"/>
              </a:rPr>
              <a:t>²/2)(N</a:t>
            </a:r>
            <a:r>
              <a:rPr sz="1439" b="1" i="0" baseline="-25000">
                <a:solidFill>
                  <a:srgbClr val="172E36"/>
                </a:solidFill>
                <a:latin typeface="Segoe UI"/>
                <a:ea typeface="Microsoft YaHei"/>
              </a:rPr>
              <a:t>z</a:t>
            </a:r>
            <a:r>
              <a:rPr sz="2000" b="1" i="0">
                <a:solidFill>
                  <a:srgbClr val="172E36"/>
                </a:solidFill>
                <a:latin typeface="Segoe UI"/>
                <a:ea typeface="Microsoft YaHei"/>
              </a:rPr>
              <a:t> − N</a:t>
            </a:r>
            <a:r>
              <a:rPr sz="1439" b="1" i="0" baseline="-25000">
                <a:solidFill>
                  <a:srgbClr val="172E36"/>
                </a:solidFill>
                <a:latin typeface="Segoe UI"/>
                <a:ea typeface="Microsoft YaHei"/>
              </a:rPr>
              <a:t>x</a:t>
            </a:r>
            <a:r>
              <a:rPr sz="2000" b="1" i="0">
                <a:solidFill>
                  <a:srgbClr val="172E36"/>
                </a:solidFill>
                <a:latin typeface="Segoe UI"/>
                <a:ea typeface="Microsoft YaHei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3246120"/>
            <a:ext cx="56235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36499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53676D"/>
                </a:solidFill>
                <a:latin typeface="Segoe UI"/>
                <a:ea typeface="Microsoft YaHei"/>
              </a:rPr>
              <a:t>代入教学参数（假设值）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75887"/>
            <a:ext cx="5166360" cy="1783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M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s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= 3×10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5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A/m   A = 5 pJ/m   K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u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= 8×10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4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J/m³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μ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0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M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s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²/2 = 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5.65×10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4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J/m³，N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z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− N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x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= 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0.911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阈值 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5.15×10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4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&lt; K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u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 ⇒  K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eff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= 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2.85×10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4</a:t>
            </a:r>
            <a:r>
              <a:rPr sz="1150" b="0" i="0">
                <a:solidFill>
                  <a:srgbClr val="136C69"/>
                </a:solidFill>
                <a:latin typeface="Segoe UI"/>
                <a:ea typeface="Microsoft YaHei"/>
              </a:rPr>
              <a:t> J/m³ &gt; 0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ℓ</a:t>
            </a:r>
            <a:r>
              <a:rPr sz="827" b="0" i="0" baseline="-25000">
                <a:solidFill>
                  <a:srgbClr val="3A4A50"/>
                </a:solidFill>
                <a:latin typeface="Segoe UI"/>
                <a:ea typeface="Microsoft YaHei"/>
              </a:rPr>
              <a:t>ex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= 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9.4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 nm  ⇒ 网格 2 nm 起步，再以 1 nm 复算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注：无限薄膜近似给出 K</a:t>
            </a:r>
            <a:r>
              <a:rPr sz="648" b="0" i="0" baseline="-25000">
                <a:solidFill>
                  <a:srgbClr val="53676D"/>
                </a:solidFill>
                <a:latin typeface="Segoe UI"/>
                <a:ea typeface="Microsoft YaHei"/>
              </a:rPr>
              <a:t>eff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 ≈ 2.35×10</a:t>
            </a:r>
            <a:r>
              <a:rPr sz="648" b="0" i="0" baseline="30000">
                <a:solidFill>
                  <a:srgbClr val="53676D"/>
                </a:solidFill>
                <a:latin typeface="Segoe UI"/>
                <a:ea typeface="Microsoft YaHei"/>
              </a:rPr>
              <a:t>4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 J/m³；本页用 200×200×4 的实际 N</a:t>
            </a:r>
            <a:r>
              <a:rPr sz="648" b="0" i="0" baseline="-25000">
                <a:solidFill>
                  <a:srgbClr val="53676D"/>
                </a:solidFill>
                <a:latin typeface="Segoe UI"/>
                <a:ea typeface="Microsoft YaHei"/>
              </a:rPr>
              <a:t>z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 − N</a:t>
            </a:r>
            <a:r>
              <a:rPr sz="648" b="0" i="0" baseline="-25000">
                <a:solidFill>
                  <a:srgbClr val="53676D"/>
                </a:solidFill>
                <a:latin typeface="Segoe UI"/>
                <a:ea typeface="Microsoft YaHei"/>
              </a:rPr>
              <a:t>x</a:t>
            </a: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。判据只比较均匀态，多畴与边缘成核仍需模拟。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推导见 2-微磁学四种能量竞争_学习笔记.md §8；参数见 3-Fidimag…md §7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136C69"/>
                </a:solidFill>
                <a:latin typeface="Segoe UI"/>
                <a:ea typeface="Microsoft YaHei"/>
              </a:rPr>
              <a:t>05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  </a:t>
            </a:r>
            <a:r>
              <a:rPr sz="1100" b="0" i="0" spc="150">
                <a:solidFill>
                  <a:srgbClr val="136C69"/>
                </a:solidFill>
                <a:latin typeface="Segoe UI"/>
                <a:ea typeface="Microsoft YaHei"/>
              </a:rPr>
              <a:t>结论二 · 形状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平面形状改的是面内各向异性，厚度才主导 </a:t>
            </a: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N</a:t>
            </a:r>
            <a:r>
              <a:rPr sz="2016" b="1" i="0" baseline="-25000">
                <a:solidFill>
                  <a:srgbClr val="172E36"/>
                </a:solidFill>
                <a:latin typeface="Segoe UI"/>
                <a:ea typeface="Microsoft YaHei"/>
              </a:rPr>
              <a:t>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90472"/>
            <a:ext cx="1051560" cy="32004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01952"/>
          <a:ext cx="6309360" cy="1645920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1371600"/>
                <a:gridCol w="1371600"/>
                <a:gridCol w="1371600"/>
              </a:tblGrid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</a:rPr>
                        <a:t>全尺寸 (nm)</a:t>
                      </a:r>
                    </a:p>
                  </a:txBody>
                  <a:tcPr marL="73152" marR="73152" marT="18288" marB="18288" anchor="ctr">
                    <a:solidFill>
                      <a:srgbClr val="136C6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</a:rPr>
                        <a:t>N</a:t>
                      </a:r>
                      <a:r>
                        <a:rPr sz="792" b="1" i="0" baseline="-25000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136C6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</a:rPr>
                        <a:t>N</a:t>
                      </a:r>
                      <a:r>
                        <a:rPr sz="792" b="1" i="0" baseline="-25000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136C6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</a:rPr>
                        <a:t>N</a:t>
                      </a:r>
                      <a:r>
                        <a:rPr sz="792" b="1" i="0" baseline="-25000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136C69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0" i="0">
                          <a:solidFill>
                            <a:srgbClr val="172E36"/>
                          </a:solidFill>
                          <a:latin typeface="Segoe UI"/>
                          <a:ea typeface="Microsoft YaHei"/>
                        </a:rPr>
                        <a:t>200×200×4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0.029569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0.029569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0.940862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0" i="0">
                          <a:solidFill>
                            <a:srgbClr val="172E36"/>
                          </a:solidFill>
                          <a:latin typeface="Segoe UI"/>
                          <a:ea typeface="Microsoft YaHei"/>
                        </a:rPr>
                        <a:t>400×100×4</a:t>
                      </a:r>
                    </a:p>
                  </a:txBody>
                  <a:tcPr marL="73152" marR="73152" marT="18288" marB="18288" anchor="ctr">
                    <a:solidFill>
                      <a:srgbClr val="F3F6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0.013690</a:t>
                      </a:r>
                    </a:p>
                  </a:txBody>
                  <a:tcPr marL="73152" marR="73152" marT="18288" marB="18288" anchor="ctr">
                    <a:solidFill>
                      <a:srgbClr val="F3F6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0.057141</a:t>
                      </a:r>
                    </a:p>
                  </a:txBody>
                  <a:tcPr marL="73152" marR="73152" marT="18288" marB="18288" anchor="ctr">
                    <a:solidFill>
                      <a:srgbClr val="F3F6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0.929169</a:t>
                      </a:r>
                    </a:p>
                  </a:txBody>
                  <a:tcPr marL="73152" marR="73152" marT="18288" marB="18288" anchor="ctr">
                    <a:solidFill>
                      <a:srgbClr val="F3F6F4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0" i="0">
                          <a:solidFill>
                            <a:srgbClr val="172E36"/>
                          </a:solidFill>
                          <a:latin typeface="Segoe UI"/>
                          <a:ea typeface="Microsoft YaHei"/>
                        </a:rPr>
                        <a:t>200×200×20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0.097461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0.097461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i="0">
                          <a:solidFill>
                            <a:srgbClr val="3A4A50"/>
                          </a:solidFill>
                          <a:latin typeface="Segoe UI"/>
                          <a:ea typeface="Microsoft YaHei"/>
                        </a:rPr>
                        <a:t>0.805078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639312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3676D"/>
                </a:solidFill>
                <a:latin typeface="Segoe UI"/>
                <a:ea typeface="Microsoft YaHei"/>
              </a:rPr>
              <a:t>200×200×4：退磁代价几乎全部在厚度方向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186560" cy="384048"/>
          </a:xfrm>
          <a:prstGeom prst="rect">
            <a:avLst/>
          </a:prstGeom>
          <a:solidFill>
            <a:srgbClr val="BFD6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6640" y="3931920"/>
            <a:ext cx="186560" cy="384048"/>
          </a:xfrm>
          <a:prstGeom prst="rect">
            <a:avLst/>
          </a:prstGeom>
          <a:solidFill>
            <a:srgbClr val="9FC3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3201" y="3931920"/>
            <a:ext cx="5936238" cy="384048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397763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  <a:ea typeface="Microsoft YaHei"/>
              </a:rPr>
              <a:t>N</a:t>
            </a:r>
            <a:r>
              <a:rPr sz="719" b="1" i="0" baseline="-25000">
                <a:solidFill>
                  <a:srgbClr val="FFFFFF"/>
                </a:solidFill>
                <a:latin typeface="Segoe UI"/>
                <a:ea typeface="Microsoft YaHei"/>
              </a:rPr>
              <a:t>z</a:t>
            </a:r>
            <a:r>
              <a:rPr sz="1000" b="1" i="0">
                <a:solidFill>
                  <a:srgbClr val="FFFFFF"/>
                </a:solidFill>
                <a:latin typeface="Segoe UI"/>
                <a:ea typeface="Microsoft YaHei"/>
              </a:rPr>
              <a:t> 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2569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76D"/>
                </a:solidFill>
                <a:latin typeface="Segoe UI"/>
                <a:ea typeface="Microsoft YaHei"/>
              </a:rPr>
              <a:t>面内 N</a:t>
            </a:r>
            <a:r>
              <a:rPr sz="684" b="0" i="0" baseline="-25000">
                <a:solidFill>
                  <a:srgbClr val="53676D"/>
                </a:solidFill>
                <a:latin typeface="Segoe UI"/>
                <a:ea typeface="Microsoft YaHei"/>
              </a:rPr>
              <a:t>x</a:t>
            </a:r>
            <a:r>
              <a:rPr sz="950" b="0" i="0">
                <a:solidFill>
                  <a:srgbClr val="53676D"/>
                </a:solidFill>
                <a:latin typeface="Segoe UI"/>
                <a:ea typeface="Microsoft YaHei"/>
              </a:rPr>
              <a:t>、N</a:t>
            </a:r>
            <a:r>
              <a:rPr sz="684" b="0" i="0" baseline="-25000">
                <a:solidFill>
                  <a:srgbClr val="53676D"/>
                </a:solidFill>
                <a:latin typeface="Segoe UI"/>
                <a:ea typeface="Microsoft YaHei"/>
              </a:rPr>
              <a:t>y</a:t>
            </a:r>
            <a:r>
              <a:rPr sz="950" b="0" i="0">
                <a:solidFill>
                  <a:srgbClr val="53676D"/>
                </a:solidFill>
                <a:latin typeface="Segoe UI"/>
                <a:ea typeface="Microsoft YaHei"/>
              </a:rPr>
              <a:t> 各约 3%，合计约 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36C69"/>
                </a:solidFill>
                <a:latin typeface="Segoe UI"/>
                <a:ea typeface="Microsoft YaHei"/>
              </a:rPr>
              <a:t>想稳定面外：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厚度是 N</a:t>
            </a:r>
            <a:r>
              <a:rPr sz="792" b="0" i="0" baseline="-25000">
                <a:solidFill>
                  <a:srgbClr val="3A4A50"/>
                </a:solidFill>
                <a:latin typeface="Segoe UI"/>
                <a:ea typeface="Microsoft YaHei"/>
              </a:rPr>
              <a:t>z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的主控参数；平面轮廓主要改变面内各向异性。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01952"/>
            <a:ext cx="423367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6C69"/>
                </a:solidFill>
                <a:latin typeface="Segoe UI"/>
                <a:ea typeface="Microsoft YaHei"/>
              </a:rPr>
              <a:t>0.941 → 0.929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04288"/>
            <a:ext cx="423367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同面积同厚度，方形改长条：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N</a:t>
            </a:r>
            <a:r>
              <a:rPr sz="756" b="0" i="0" baseline="-25000">
                <a:solidFill>
                  <a:srgbClr val="3A4A50"/>
                </a:solidFill>
                <a:latin typeface="Segoe UI"/>
                <a:ea typeface="Microsoft YaHei"/>
              </a:rPr>
              <a:t>z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 几乎不变，变的是面内 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N</a:t>
            </a:r>
            <a:r>
              <a:rPr sz="756" b="0" i="0" baseline="-25000">
                <a:solidFill>
                  <a:srgbClr val="3A4A50"/>
                </a:solidFill>
                <a:latin typeface="Segoe UI"/>
                <a:ea typeface="Microsoft YaHei"/>
              </a:rPr>
              <a:t>x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 0.030→0.014、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N</a:t>
            </a:r>
            <a:r>
              <a:rPr sz="756" b="0" i="0" baseline="-25000">
                <a:solidFill>
                  <a:srgbClr val="3A4A50"/>
                </a:solidFill>
                <a:latin typeface="Segoe UI"/>
                <a:ea typeface="Microsoft YaHei"/>
              </a:rPr>
              <a:t>y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 0.030→0.057。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054096"/>
            <a:ext cx="4233672" cy="10972"/>
          </a:xfrm>
          <a:prstGeom prst="rect">
            <a:avLst/>
          </a:prstGeom>
          <a:solidFill>
            <a:srgbClr val="DCE6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182112"/>
            <a:ext cx="423367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6C69"/>
                </a:solidFill>
                <a:latin typeface="Segoe UI"/>
                <a:ea typeface="Microsoft YaHei"/>
              </a:rPr>
              <a:t>0.941 → 0.805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584448"/>
            <a:ext cx="423367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厚度 4 → 20 nm：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N</a:t>
            </a:r>
            <a:r>
              <a:rPr sz="756" b="0" i="0" baseline="-25000">
                <a:solidFill>
                  <a:srgbClr val="3A4A50"/>
                </a:solidFill>
                <a:latin typeface="Segoe UI"/>
                <a:ea typeface="Microsoft YaHei"/>
              </a:rPr>
              <a:t>z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 明显下降，厚度才是 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N</a:t>
            </a:r>
            <a:r>
              <a:rPr sz="756" b="0" i="0" baseline="-25000">
                <a:solidFill>
                  <a:srgbClr val="3A4A50"/>
                </a:solidFill>
                <a:latin typeface="Segoe UI"/>
                <a:ea typeface="Microsoft YaHei"/>
              </a:rPr>
              <a:t>z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 的主控参数。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334256"/>
            <a:ext cx="4233672" cy="10972"/>
          </a:xfrm>
          <a:prstGeom prst="rect">
            <a:avLst/>
          </a:prstGeom>
          <a:solidFill>
            <a:srgbClr val="DCE6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462272"/>
            <a:ext cx="423367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36C69"/>
                </a:solidFill>
                <a:latin typeface="Segoe UI"/>
                <a:ea typeface="Microsoft YaHei"/>
              </a:rPr>
              <a:t>4.37% / 6.29%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864608"/>
            <a:ext cx="423367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中心点 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N</a:t>
            </a:r>
            <a:r>
              <a:rPr sz="756" b="0" i="0" baseline="-25000">
                <a:solidFill>
                  <a:srgbClr val="3A4A50"/>
                </a:solidFill>
                <a:latin typeface="Segoe UI"/>
                <a:ea typeface="Microsoft YaHei"/>
              </a:rPr>
              <a:t>z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 比体积平均高 4.37%；用无限薄膜 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N</a:t>
            </a:r>
            <a:r>
              <a:rPr sz="756" b="0" i="0" baseline="-25000">
                <a:solidFill>
                  <a:srgbClr val="3A4A50"/>
                </a:solidFill>
                <a:latin typeface="Segoe UI"/>
                <a:ea typeface="Microsoft YaHei"/>
              </a:rPr>
              <a:t>z</a:t>
            </a:r>
            <a:r>
              <a:rPr sz="1050" b="0" i="0">
                <a:solidFill>
                  <a:srgbClr val="3A4A50"/>
                </a:solidFill>
                <a:latin typeface="Segoe UI"/>
                <a:ea typeface="Microsoft YaHei"/>
              </a:rPr>
              <a:t>=1 会高估 6.29%。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固定均匀磁化下的解析值（Newell/Aharoni），不是微磁模拟结果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136C69"/>
                </a:solidFill>
                <a:latin typeface="Segoe UI"/>
                <a:ea typeface="Microsoft YaHei"/>
              </a:rPr>
              <a:t>06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  </a:t>
            </a:r>
            <a:r>
              <a:rPr sz="1100" b="0" i="0" spc="150">
                <a:solidFill>
                  <a:srgbClr val="136C69"/>
                </a:solidFill>
                <a:latin typeface="Segoe UI"/>
                <a:ea typeface="Microsoft YaHei"/>
              </a:rPr>
              <a:t>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能离线验证的，已经验完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90472"/>
            <a:ext cx="1051560" cy="32004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0292" cy="2148840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4825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已通过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4086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矩形退磁因子（解析）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61488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对 OOMMF 基准：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7.49×10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-15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迹误差：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4.02×10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-12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独立积分交叉验证：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1.84×10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-7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57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实现：标准库 · 双精度 · 不强制归一化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2024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920240"/>
            <a:ext cx="50292" cy="2148840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04825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136C69"/>
                </a:solidFill>
                <a:latin typeface="Segoe UI"/>
                <a:ea typeface="Microsoft YaHei"/>
              </a:rPr>
              <a:t>已通过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4086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单磁矩 LLG（RK4）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761488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与解析解：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2.76×10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-12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模长误差：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1.02×10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-13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步长减半差：</a:t>
            </a: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2.59×10</a:t>
            </a:r>
            <a:r>
              <a:rPr sz="827" b="0" i="0" baseline="30000">
                <a:solidFill>
                  <a:srgbClr val="3A4A50"/>
                </a:solidFill>
                <a:latin typeface="Segoe UI"/>
                <a:ea typeface="Microsoft YaHei"/>
              </a:rPr>
              <a:t>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57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验证：解析解 + 步长减半 + 模长检查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15968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FBF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15968"/>
            <a:ext cx="50292" cy="1143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44398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B45309"/>
                </a:solidFill>
                <a:latin typeface="Segoe UI"/>
                <a:ea typeface="Microsoft YaHei"/>
              </a:rPr>
              <a:t>未执行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2569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E36"/>
                </a:solidFill>
                <a:latin typeface="Segoe UI"/>
                <a:ea typeface="Microsoft YaHei"/>
              </a:rPr>
              <a:t>薄膜脚本 thinfilm_fidimag.py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54880"/>
            <a:ext cx="1040861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0"/>
                </a:solidFill>
                <a:latin typeface="Segoe UI"/>
                <a:ea typeface="Microsoft YaHei"/>
              </a:rPr>
              <a:t>接口与语法已核对，但本机没有 Fidimag，尚未运行：目前没有任何薄膜模拟结果，</a:t>
            </a:r>
            <a:r>
              <a:rPr sz="1150" b="1" i="0">
                <a:solidFill>
                  <a:srgbClr val="B45309"/>
                </a:solidFill>
                <a:latin typeface="Segoe UI"/>
                <a:ea typeface="Microsoft YaHei"/>
              </a:rPr>
              <a:t>这一步的结论还不能写。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36C69"/>
                </a:solidFill>
                <a:latin typeface="Segoe UI"/>
                <a:ea typeface="Microsoft YaHei"/>
              </a:rPr>
              <a:t>解析校验通过 ≠ 求解器验证通过。下一步第一件事，是在求解器里复现同一组 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3676D"/>
                </a:solidFill>
                <a:latin typeface="Segoe UI"/>
                <a:ea typeface="Microsoft YaHei"/>
              </a:rPr>
              <a:t>结果来自 rectangular_demag.py 与 macrospin_results/verification.json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136C69"/>
                </a:solidFill>
                <a:latin typeface="Segoe UI"/>
                <a:ea typeface="Microsoft YaHei"/>
              </a:rPr>
              <a:t>07</a:t>
            </a:r>
            <a:r>
              <a:rPr sz="1100" b="0" i="0">
                <a:solidFill>
                  <a:srgbClr val="3A4A50"/>
                </a:solidFill>
                <a:latin typeface="Segoe UI"/>
                <a:ea typeface="Microsoft YaHei"/>
              </a:rPr>
              <a:t>   </a:t>
            </a:r>
            <a:r>
              <a:rPr sz="1100" b="0" i="0" spc="150">
                <a:solidFill>
                  <a:srgbClr val="136C69"/>
                </a:solidFill>
                <a:latin typeface="Segoe UI"/>
                <a:ea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E36"/>
                </a:solidFill>
                <a:latin typeface="Segoe UI"/>
                <a:ea typeface="Microsoft YaHei"/>
              </a:rPr>
              <a:t>四条动作，把模型跑起来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90472"/>
            <a:ext cx="1051560" cy="32004"/>
          </a:xfrm>
          <a:prstGeom prst="rect">
            <a:avLst/>
          </a:prstGeom>
          <a:solidFill>
            <a:srgbClr val="136C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47088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6C69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102714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定软件路线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OOMMF / WSL+Fidimag / MuMax3：先验证 GPU 与 CUDA 兼容性；本机 RTX 5060 可能不兼容旧版。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10911535" cy="8229"/>
          </a:xfrm>
          <a:prstGeom prst="rect">
            <a:avLst/>
          </a:prstGeom>
          <a:solidFill>
            <a:srgbClr val="DCE6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52928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6C69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102714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锁定参数表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82112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饱和磁化强度、交换刚度、各向异性、阻尼 α：一次定死并注明来源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49039"/>
            <a:ext cx="10911535" cy="8229"/>
          </a:xfrm>
          <a:prstGeom prst="rect">
            <a:avLst/>
          </a:prstGeom>
          <a:solidFill>
            <a:srgbClr val="DCE6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6C69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80"/>
            <a:ext cx="102714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均匀磁化静态校验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87952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三个方向分别测 N，目标 |ΔN| &lt; 10</a:t>
            </a:r>
            <a:r>
              <a:rPr sz="756" b="0" i="0" baseline="30000">
                <a:solidFill>
                  <a:srgbClr val="53676D"/>
                </a:solidFill>
                <a:latin typeface="Segoe UI"/>
                <a:ea typeface="Microsoft YaHei"/>
              </a:rPr>
              <a:t>−4</a:t>
            </a: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，场法与能量法互校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10911535" cy="8229"/>
          </a:xfrm>
          <a:prstGeom prst="rect">
            <a:avLst/>
          </a:prstGeom>
          <a:solidFill>
            <a:srgbClr val="DCE6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64608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6C69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102714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E36"/>
                </a:solidFill>
                <a:latin typeface="Segoe UI"/>
                <a:ea typeface="Microsoft YaHei"/>
              </a:rPr>
              <a:t>形状 → 磁畴 → 磁滞 → 收敛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93792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76D"/>
                </a:solidFill>
                <a:latin typeface="Segoe UI"/>
                <a:ea typeface="Microsoft YaHei"/>
              </a:rPr>
              <a:t>方形 / 圆形 / 长方形，等面积等厚度，再扫厚度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52160"/>
            <a:ext cx="10911535" cy="475488"/>
          </a:xfrm>
          <a:prstGeom prst="roundRect">
            <a:avLst>
              <a:gd name="adj" fmla="val 6000"/>
            </a:avLst>
          </a:prstGeom>
          <a:solidFill>
            <a:srgbClr val="E9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852160"/>
            <a:ext cx="10545775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6C69"/>
                </a:solidFill>
                <a:latin typeface="Segoe UI"/>
                <a:ea typeface="Microsoft YaHei"/>
              </a:rPr>
              <a:t>理论地基已打好，下周开始出第一张退磁场云图。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19088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76D"/>
                </a:solidFill>
                <a:latin typeface="Segoe U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基于微磁学模拟探讨量子反常霍尔效应的退磁场效应</dc:title>
  <dc:subject>理论学习阶段汇报（5 分钟）</dc:subject>
  <dc:creator>电磁学课程项目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