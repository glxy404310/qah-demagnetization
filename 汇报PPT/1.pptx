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各位老师好。我们汇报这个电磁学课程项目。今天讲三块：项目必需的理论、关键公式，以及下一步计划。题目可以概括为：面外磁化受到退磁场的抑制，其稳定性由形状与厚度决定。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磁化状态由四项能量相加决定：交换、各向异性、退磁、外场。平衡态取总能量极小。有两条规矩要记住：形状只通过退磁能进来，所以算了退磁就不用再加形状各向异性；判据比的是差值。最后，微磁学只到磁性条件，不算电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项能量各有一条公式。交换能看邻居同不同向；各向异性看偏离易轴多少；退磁能是退磁场平方的积分；外场能看顺不顺场。单位都是焦耳。最后一行是畴壁：宽度由交换和各向异性之比决定，单位面积能量是四倍根号 AK。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把各向异性减去退磁能之差，就是有效各向异性。这里 8.0 减 5.15，还剩 2.85 乘十的四次方，大于零，所以均匀态下面外取向能量更低。等价写法是 Q 乘上 N_z 减 N_x 大于一。但有效各向异性大于零不等于单畴，分畴还可能继续降低退磁能，这要模拟才能回答。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尺度有两个来源。第一个是交换长度，本参数下 9.4 纳米，网格必须比它细，先用 2 纳米跑通，关键结果用 1 纳米复算。第二个是畴壁宽度，Δ 的 π 倍，约 25 纳米；要分辨畴壁，至少三到五个格点。注意壁宽的定义不唯一，比文献时要先对齐。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四项能量对磁化求导，就是 LLG 里的有效场。LLG 两项：一项绕有效场进动，一项被阻尼拉向低能。写代码时单位要配套：场用安每米配 2.2 乘十的五次方，用特斯拉配 1.8 乘十的十一次方。α 只改路径和速度，不改静态能量；但要报翻转时间，必须真的跑动力学。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计划分五个阶段：理论已完成；基准模拟是当前位置，标准是跑通薄膜基准算例；然后是方形、圆形、长条形三种形状的比较，再做数据分析和总结。近期工作：确定求解器、锁定参数与网格、先做静态校验，x、y、z 三个方向的 N 要和解析值对上。下一步就是在求解器里复现同一组 N。谢谢。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170432"/>
            <a:ext cx="50292" cy="338328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11556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200">
                <a:solidFill>
                  <a:srgbClr val="136C69"/>
                </a:solidFill>
                <a:latin typeface="Segoe UI"/>
                <a:ea typeface="Microsoft YaHei"/>
              </a:rPr>
              <a:t>电磁学课程项目 · 理论汇报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81328"/>
            <a:ext cx="6949440" cy="18745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172E36"/>
                </a:solidFill>
                <a:latin typeface="Segoe UI"/>
                <a:ea typeface="Microsoft YaHei"/>
              </a:rPr>
              <a:t>基于微磁学模拟探讨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172E36"/>
                </a:solidFill>
                <a:latin typeface="Segoe UI"/>
                <a:ea typeface="Microsoft YaHei"/>
              </a:rPr>
              <a:t>量子反常霍尔效应的退磁场效应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93008"/>
            <a:ext cx="67665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A4A50"/>
                </a:solidFill>
                <a:latin typeface="Segoe UI"/>
                <a:ea typeface="Microsoft YaHei"/>
              </a:rPr>
              <a:t>核心理论、关键公式与后续计划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05072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孙煜凡　韦中天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352544"/>
            <a:ext cx="6766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2026 年 10 月 · 理论学习阶段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737360"/>
            <a:ext cx="3794760" cy="274320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0" y="3364992"/>
            <a:ext cx="2971800" cy="146304"/>
          </a:xfrm>
          <a:prstGeom prst="rect">
            <a:avLst/>
          </a:prstGeom>
          <a:solidFill>
            <a:srgbClr val="172E3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Up Arrow 9"/>
          <p:cNvSpPr/>
          <p:nvPr/>
        </p:nvSpPr>
        <p:spPr>
          <a:xfrm>
            <a:off x="9528048" y="2395728"/>
            <a:ext cx="237744" cy="822960"/>
          </a:xfrm>
          <a:prstGeom prst="upArrow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93808" y="256032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1">
                <a:solidFill>
                  <a:srgbClr val="136C69"/>
                </a:solidFill>
                <a:latin typeface="Segoe UI"/>
                <a:ea typeface="Microsoft YaHei"/>
              </a:rPr>
              <a:t>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528048" y="3657600"/>
            <a:ext cx="237744" cy="640080"/>
          </a:xfrm>
          <a:prstGeom prst="downArrow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93808" y="376732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1">
                <a:solidFill>
                  <a:srgbClr val="B45309"/>
                </a:solidFill>
                <a:latin typeface="Segoe UI"/>
                <a:ea typeface="Microsoft YaHei"/>
              </a:rPr>
              <a:t>H</a:t>
            </a:r>
            <a:r>
              <a:rPr sz="1008" b="1" i="0" baseline="-25000">
                <a:solidFill>
                  <a:srgbClr val="B45309"/>
                </a:solidFill>
                <a:latin typeface="Segoe UI"/>
                <a:ea typeface="Microsoft YaHei"/>
              </a:rPr>
              <a:t>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572000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面外磁化与退磁场方向相反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84632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0"/>
                </a:solidFill>
                <a:latin typeface="Segoe UI"/>
                <a:ea typeface="Microsoft YaHei"/>
              </a:rPr>
              <a:t>面外磁化受到退磁场抑制；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36C69"/>
                </a:solidFill>
                <a:latin typeface="Segoe UI"/>
                <a:ea typeface="Microsoft YaHei"/>
              </a:rPr>
              <a:t>其稳定性由各向异性能与退磁能之差决定。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01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问题与框架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面外磁化的稳定性由四项能量的相对大小决定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92807"/>
            <a:ext cx="36576" cy="51206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84708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72E36"/>
                </a:solidFill>
                <a:latin typeface="Segoe UI"/>
                <a:ea typeface="Microsoft YaHei"/>
              </a:rPr>
              <a:t>交换能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30552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相邻自旋取向趋于一致，磁化弯曲需付出交换能代价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24328"/>
            <a:ext cx="36576" cy="51206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57860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72E36"/>
                </a:solidFill>
                <a:latin typeface="Segoe UI"/>
                <a:ea typeface="Microsoft YaHei"/>
              </a:rPr>
              <a:t>各向异性能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62072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沿易轴时能量最低；本项目取易轴垂直膜面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55848"/>
            <a:ext cx="36576" cy="51206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31012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72E36"/>
                </a:solidFill>
                <a:latin typeface="Segoe UI"/>
                <a:ea typeface="Microsoft YaHei"/>
              </a:rPr>
              <a:t>退磁能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593592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磁化在自身退磁场中的能量，以退磁因子 N 描述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087368"/>
            <a:ext cx="36576" cy="51206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04164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72E36"/>
                </a:solidFill>
                <a:latin typeface="Segoe UI"/>
                <a:ea typeface="Microsoft YaHei"/>
              </a:rPr>
              <a:t>外场能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325112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塞曼能随磁化与外场夹角变化，撤场后为零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1810512"/>
            <a:ext cx="5513832" cy="1298448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1911095"/>
            <a:ext cx="50749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136C69"/>
                </a:solidFill>
                <a:latin typeface="Segoe UI"/>
                <a:ea typeface="Microsoft YaHei"/>
              </a:rPr>
              <a:t>总能量（四项之和）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176272"/>
            <a:ext cx="5148072" cy="8869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1">
                <a:solidFill>
                  <a:srgbClr val="172E36"/>
                </a:solidFill>
                <a:latin typeface="Segoe UI"/>
                <a:ea typeface="Microsoft YaHei"/>
              </a:rPr>
              <a:t>E</a:t>
            </a:r>
            <a:r>
              <a:rPr sz="2200" b="0" i="0">
                <a:solidFill>
                  <a:srgbClr val="172E36"/>
                </a:solidFill>
                <a:latin typeface="Segoe UI"/>
                <a:ea typeface="Microsoft YaHei"/>
              </a:rPr>
              <a:t> = </a:t>
            </a:r>
            <a:r>
              <a:rPr sz="2200" b="0" i="1">
                <a:solidFill>
                  <a:srgbClr val="172E36"/>
                </a:solidFill>
                <a:latin typeface="Segoe UI"/>
                <a:ea typeface="Microsoft YaHei"/>
              </a:rPr>
              <a:t>E</a:t>
            </a:r>
            <a:r>
              <a:rPr sz="1584" b="0" i="0" baseline="-25000">
                <a:solidFill>
                  <a:srgbClr val="172E36"/>
                </a:solidFill>
                <a:latin typeface="Segoe UI"/>
                <a:ea typeface="Microsoft YaHei"/>
              </a:rPr>
              <a:t>ex</a:t>
            </a:r>
            <a:r>
              <a:rPr sz="2200" b="0" i="0">
                <a:solidFill>
                  <a:srgbClr val="172E36"/>
                </a:solidFill>
                <a:latin typeface="Segoe UI"/>
                <a:ea typeface="Microsoft YaHei"/>
              </a:rPr>
              <a:t> + </a:t>
            </a:r>
            <a:r>
              <a:rPr sz="2200" b="0" i="1">
                <a:solidFill>
                  <a:srgbClr val="172E36"/>
                </a:solidFill>
                <a:latin typeface="Segoe UI"/>
                <a:ea typeface="Microsoft YaHei"/>
              </a:rPr>
              <a:t>E</a:t>
            </a:r>
            <a:r>
              <a:rPr sz="1584" b="0" i="0" baseline="-25000">
                <a:solidFill>
                  <a:srgbClr val="172E36"/>
                </a:solidFill>
                <a:latin typeface="Segoe UI"/>
                <a:ea typeface="Microsoft YaHei"/>
              </a:rPr>
              <a:t>an</a:t>
            </a:r>
            <a:r>
              <a:rPr sz="2200" b="0" i="0">
                <a:solidFill>
                  <a:srgbClr val="172E36"/>
                </a:solidFill>
                <a:latin typeface="Segoe UI"/>
                <a:ea typeface="Microsoft YaHei"/>
              </a:rPr>
              <a:t> + </a:t>
            </a:r>
            <a:r>
              <a:rPr sz="2200" b="0" i="1">
                <a:solidFill>
                  <a:srgbClr val="172E36"/>
                </a:solidFill>
                <a:latin typeface="Segoe UI"/>
                <a:ea typeface="Microsoft YaHei"/>
              </a:rPr>
              <a:t>E</a:t>
            </a:r>
            <a:r>
              <a:rPr sz="1584" b="0" i="0" baseline="-25000">
                <a:solidFill>
                  <a:srgbClr val="172E36"/>
                </a:solidFill>
                <a:latin typeface="Segoe UI"/>
                <a:ea typeface="Microsoft YaHei"/>
              </a:rPr>
              <a:t>d</a:t>
            </a:r>
            <a:r>
              <a:rPr sz="2200" b="0" i="0">
                <a:solidFill>
                  <a:srgbClr val="172E36"/>
                </a:solidFill>
                <a:latin typeface="Segoe UI"/>
                <a:ea typeface="Microsoft YaHei"/>
              </a:rPr>
              <a:t> + </a:t>
            </a:r>
            <a:r>
              <a:rPr sz="2200" b="0" i="1">
                <a:solidFill>
                  <a:srgbClr val="172E36"/>
                </a:solidFill>
                <a:latin typeface="Segoe UI"/>
                <a:ea typeface="Microsoft YaHei"/>
              </a:rPr>
              <a:t>E</a:t>
            </a:r>
            <a:r>
              <a:rPr sz="1584" b="0" i="0" baseline="-25000">
                <a:solidFill>
                  <a:srgbClr val="172E36"/>
                </a:solidFill>
                <a:latin typeface="Segoe UI"/>
                <a:ea typeface="Microsoft YaHei"/>
              </a:rPr>
              <a:t>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32004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平衡态取总能量的极小值。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566160"/>
            <a:ext cx="5513832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3675887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136C69"/>
                </a:solidFill>
                <a:latin typeface="Segoe UI"/>
                <a:ea typeface="Microsoft YaHei"/>
              </a:rPr>
              <a:t>三条使用规则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393192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形状只通过 </a:t>
            </a:r>
            <a:r>
              <a:rPr sz="1050" b="0" i="1">
                <a:solidFill>
                  <a:srgbClr val="3A4A50"/>
                </a:solidFill>
                <a:latin typeface="Segoe UI"/>
                <a:ea typeface="Microsoft YaHei"/>
              </a:rPr>
              <a:t>E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d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进入；计入退磁能后，不再另设形状各向异性项。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判据比较各向异性能与退磁能之差，而非单项绝对值。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本工作只讨论磁性条件，不计算陈数、能隙或霍尔电导。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57800"/>
            <a:ext cx="10911535" cy="86868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257800"/>
            <a:ext cx="50292" cy="86868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257800"/>
            <a:ext cx="104086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36C69"/>
                </a:solidFill>
                <a:latin typeface="Segoe UI"/>
                <a:ea typeface="Microsoft YaHei"/>
              </a:rPr>
              <a:t>选择面外方向的原因：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QAH 的质量隙源于面外磁化；但微磁学只能判断磁性条件，不能给出输运结论。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02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四种能量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四项能量均以焦耳为单位，可逐项比较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10512"/>
            <a:ext cx="5345582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92024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136C69"/>
                </a:solidFill>
                <a:latin typeface="Segoe UI"/>
                <a:ea typeface="Microsoft YaHei"/>
              </a:rPr>
              <a:t>交换能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212848"/>
            <a:ext cx="490667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72E36"/>
                </a:solidFill>
                <a:latin typeface="Segoe UI"/>
                <a:ea typeface="Microsoft YaHei"/>
              </a:rPr>
              <a:t>E</a:t>
            </a:r>
            <a:r>
              <a:rPr sz="1152" b="0" i="0" baseline="-25000">
                <a:solidFill>
                  <a:srgbClr val="172E36"/>
                </a:solidFill>
                <a:latin typeface="Segoe UI"/>
                <a:ea typeface="Microsoft YaHei"/>
              </a:rPr>
              <a:t>ex</a:t>
            </a:r>
            <a:r>
              <a:rPr sz="1600" b="0" i="0">
                <a:solidFill>
                  <a:srgbClr val="172E36"/>
                </a:solidFill>
                <a:latin typeface="Segoe UI"/>
                <a:ea typeface="Microsoft YaHei"/>
              </a:rPr>
              <a:t> = ∫</a:t>
            </a:r>
            <a:r>
              <a:rPr sz="1152" b="0" i="0" baseline="-25000">
                <a:solidFill>
                  <a:srgbClr val="172E36"/>
                </a:solidFill>
                <a:latin typeface="Segoe UI"/>
                <a:ea typeface="Microsoft YaHei"/>
              </a:rPr>
              <a:t>V</a:t>
            </a:r>
            <a:r>
              <a:rPr sz="1600" b="0" i="0">
                <a:solidFill>
                  <a:srgbClr val="172E36"/>
                </a:solidFill>
                <a:latin typeface="Segoe UI"/>
                <a:ea typeface="Microsoft YaHei"/>
              </a:rPr>
              <a:t> </a:t>
            </a:r>
            <a:r>
              <a:rPr sz="1600" b="0" i="1">
                <a:solidFill>
                  <a:srgbClr val="172E36"/>
                </a:solidFill>
                <a:latin typeface="Segoe UI"/>
                <a:ea typeface="Microsoft YaHei"/>
              </a:rPr>
              <a:t>A</a:t>
            </a:r>
            <a:r>
              <a:rPr sz="1600" b="0" i="0">
                <a:solidFill>
                  <a:srgbClr val="172E36"/>
                </a:solidFill>
                <a:latin typeface="Segoe UI"/>
                <a:ea typeface="Microsoft YaHei"/>
              </a:rPr>
              <a:t> |∇</a:t>
            </a:r>
            <a:r>
              <a:rPr sz="1600" b="0" i="1">
                <a:solidFill>
                  <a:srgbClr val="172E36"/>
                </a:solidFill>
                <a:latin typeface="Segoe UI"/>
                <a:ea typeface="Microsoft YaHei"/>
              </a:rPr>
              <a:t>m</a:t>
            </a:r>
            <a:r>
              <a:rPr sz="1600" b="0" i="0">
                <a:solidFill>
                  <a:srgbClr val="172E36"/>
                </a:solidFill>
                <a:latin typeface="Segoe UI"/>
                <a:ea typeface="Microsoft YaHei"/>
              </a:rPr>
              <a:t>|² d</a:t>
            </a:r>
            <a:r>
              <a:rPr sz="1600" b="0" i="1">
                <a:solidFill>
                  <a:srgbClr val="172E36"/>
                </a:solidFill>
                <a:latin typeface="Segoe UI"/>
                <a:ea typeface="Microsoft YaHei"/>
              </a:rPr>
              <a:t>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852928"/>
            <a:ext cx="490667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磁化不均匀时产生交换能；均匀态下为零。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5118" y="1810512"/>
            <a:ext cx="5345582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4574" y="192024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136C69"/>
                </a:solidFill>
                <a:latin typeface="Segoe UI"/>
                <a:ea typeface="Microsoft YaHei"/>
              </a:rPr>
              <a:t>各向异性能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4574" y="2212848"/>
            <a:ext cx="490667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72E36"/>
                </a:solidFill>
                <a:latin typeface="Segoe UI"/>
                <a:ea typeface="Microsoft YaHei"/>
              </a:rPr>
              <a:t>E</a:t>
            </a:r>
            <a:r>
              <a:rPr sz="1152" b="0" i="0" baseline="-25000">
                <a:solidFill>
                  <a:srgbClr val="172E36"/>
                </a:solidFill>
                <a:latin typeface="Segoe UI"/>
                <a:ea typeface="Microsoft YaHei"/>
              </a:rPr>
              <a:t>an</a:t>
            </a:r>
            <a:r>
              <a:rPr sz="1600" b="0" i="0">
                <a:solidFill>
                  <a:srgbClr val="172E36"/>
                </a:solidFill>
                <a:latin typeface="Segoe UI"/>
                <a:ea typeface="Microsoft YaHei"/>
              </a:rPr>
              <a:t> = </a:t>
            </a:r>
            <a:r>
              <a:rPr sz="1600" b="0" i="1">
                <a:solidFill>
                  <a:srgbClr val="172E36"/>
                </a:solidFill>
                <a:latin typeface="Segoe UI"/>
                <a:ea typeface="Microsoft YaHei"/>
              </a:rPr>
              <a:t>K</a:t>
            </a:r>
            <a:r>
              <a:rPr sz="1152" b="0" i="0" baseline="-25000">
                <a:solidFill>
                  <a:srgbClr val="172E36"/>
                </a:solidFill>
                <a:latin typeface="Segoe UI"/>
                <a:ea typeface="Microsoft YaHei"/>
              </a:rPr>
              <a:t>u</a:t>
            </a:r>
            <a:r>
              <a:rPr sz="1600" b="0" i="0">
                <a:solidFill>
                  <a:srgbClr val="172E36"/>
                </a:solidFill>
                <a:latin typeface="Segoe UI"/>
                <a:ea typeface="Microsoft YaHei"/>
              </a:rPr>
              <a:t> </a:t>
            </a:r>
            <a:r>
              <a:rPr sz="1600" b="0" i="1">
                <a:solidFill>
                  <a:srgbClr val="172E36"/>
                </a:solidFill>
                <a:latin typeface="Segoe UI"/>
                <a:ea typeface="Microsoft YaHei"/>
              </a:rPr>
              <a:t>V</a:t>
            </a:r>
            <a:r>
              <a:rPr sz="1600" b="0" i="0">
                <a:solidFill>
                  <a:srgbClr val="172E36"/>
                </a:solidFill>
                <a:latin typeface="Segoe UI"/>
                <a:ea typeface="Microsoft YaHei"/>
              </a:rPr>
              <a:t> sin²</a:t>
            </a:r>
            <a:r>
              <a:rPr sz="1600" b="0" i="1">
                <a:solidFill>
                  <a:srgbClr val="172E36"/>
                </a:solidFill>
                <a:latin typeface="Segoe UI"/>
                <a:ea typeface="Microsoft YaHei"/>
              </a:rPr>
              <a:t>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4574" y="2852928"/>
            <a:ext cx="490667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θ 为磁化与易轴夹角，偏离越大能量越高。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694176"/>
            <a:ext cx="5345582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80390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136C69"/>
                </a:solidFill>
                <a:latin typeface="Segoe UI"/>
                <a:ea typeface="Microsoft YaHei"/>
              </a:rPr>
              <a:t>退磁能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096512"/>
            <a:ext cx="490667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72E36"/>
                </a:solidFill>
                <a:latin typeface="Segoe UI"/>
                <a:ea typeface="Microsoft YaHei"/>
              </a:rPr>
              <a:t>E</a:t>
            </a:r>
            <a:r>
              <a:rPr sz="1152" b="0" i="0" baseline="-25000">
                <a:solidFill>
                  <a:srgbClr val="172E36"/>
                </a:solidFill>
                <a:latin typeface="Segoe UI"/>
                <a:ea typeface="Microsoft YaHei"/>
              </a:rPr>
              <a:t>d</a:t>
            </a:r>
            <a:r>
              <a:rPr sz="1600" b="0" i="0">
                <a:solidFill>
                  <a:srgbClr val="172E36"/>
                </a:solidFill>
                <a:latin typeface="Segoe UI"/>
                <a:ea typeface="Microsoft YaHei"/>
              </a:rPr>
              <a:t> = (μ</a:t>
            </a:r>
            <a:r>
              <a:rPr sz="1152" b="0" i="0" baseline="-25000">
                <a:solidFill>
                  <a:srgbClr val="172E36"/>
                </a:solidFill>
                <a:latin typeface="Segoe UI"/>
                <a:ea typeface="Microsoft YaHei"/>
              </a:rPr>
              <a:t>0</a:t>
            </a:r>
            <a:r>
              <a:rPr sz="1600" b="0" i="0">
                <a:solidFill>
                  <a:srgbClr val="172E36"/>
                </a:solidFill>
                <a:latin typeface="Segoe UI"/>
                <a:ea typeface="Microsoft YaHei"/>
              </a:rPr>
              <a:t>/2)∫|</a:t>
            </a:r>
            <a:r>
              <a:rPr sz="1600" b="0" i="1">
                <a:solidFill>
                  <a:srgbClr val="172E36"/>
                </a:solidFill>
                <a:latin typeface="Segoe UI"/>
                <a:ea typeface="Microsoft YaHei"/>
              </a:rPr>
              <a:t>H</a:t>
            </a:r>
            <a:r>
              <a:rPr sz="1152" b="0" i="0" baseline="-25000">
                <a:solidFill>
                  <a:srgbClr val="172E36"/>
                </a:solidFill>
                <a:latin typeface="Segoe UI"/>
                <a:ea typeface="Microsoft YaHei"/>
              </a:rPr>
              <a:t>d</a:t>
            </a:r>
            <a:r>
              <a:rPr sz="1600" b="0" i="0">
                <a:solidFill>
                  <a:srgbClr val="172E36"/>
                </a:solidFill>
                <a:latin typeface="Segoe UI"/>
                <a:ea typeface="Microsoft YaHei"/>
              </a:rPr>
              <a:t>|² d</a:t>
            </a:r>
            <a:r>
              <a:rPr sz="1600" b="0" i="1">
                <a:solidFill>
                  <a:srgbClr val="172E36"/>
                </a:solidFill>
                <a:latin typeface="Segoe UI"/>
                <a:ea typeface="Microsoft YaHei"/>
              </a:rPr>
              <a:t>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736592"/>
            <a:ext cx="490667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形成畴结构或闭合磁通可降低退磁能。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118" y="3694176"/>
            <a:ext cx="5345582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4574" y="380390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136C69"/>
                </a:solidFill>
                <a:latin typeface="Segoe UI"/>
                <a:ea typeface="Microsoft YaHei"/>
              </a:rPr>
              <a:t>外场能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4574" y="4096512"/>
            <a:ext cx="490667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72E36"/>
                </a:solidFill>
                <a:latin typeface="Segoe UI"/>
                <a:ea typeface="Microsoft YaHei"/>
              </a:rPr>
              <a:t>E</a:t>
            </a:r>
            <a:r>
              <a:rPr sz="1152" b="0" i="0" baseline="-25000">
                <a:solidFill>
                  <a:srgbClr val="172E36"/>
                </a:solidFill>
                <a:latin typeface="Segoe UI"/>
                <a:ea typeface="Microsoft YaHei"/>
              </a:rPr>
              <a:t>Z</a:t>
            </a:r>
            <a:r>
              <a:rPr sz="1600" b="0" i="0">
                <a:solidFill>
                  <a:srgbClr val="172E36"/>
                </a:solidFill>
                <a:latin typeface="Segoe UI"/>
                <a:ea typeface="Microsoft YaHei"/>
              </a:rPr>
              <a:t> = −μ</a:t>
            </a:r>
            <a:r>
              <a:rPr sz="1152" b="0" i="0" baseline="-25000">
                <a:solidFill>
                  <a:srgbClr val="172E36"/>
                </a:solidFill>
                <a:latin typeface="Segoe UI"/>
                <a:ea typeface="Microsoft YaHei"/>
              </a:rPr>
              <a:t>0</a:t>
            </a:r>
            <a:r>
              <a:rPr sz="1600" b="0" i="0">
                <a:solidFill>
                  <a:srgbClr val="172E36"/>
                </a:solidFill>
                <a:latin typeface="Segoe UI"/>
                <a:ea typeface="Microsoft YaHei"/>
              </a:rPr>
              <a:t>∫ </a:t>
            </a:r>
            <a:r>
              <a:rPr sz="1600" b="0" i="1">
                <a:solidFill>
                  <a:srgbClr val="172E36"/>
                </a:solidFill>
                <a:latin typeface="Segoe UI"/>
                <a:ea typeface="Microsoft YaHei"/>
              </a:rPr>
              <a:t>M</a:t>
            </a:r>
            <a:r>
              <a:rPr sz="1600" b="0" i="0">
                <a:solidFill>
                  <a:srgbClr val="172E36"/>
                </a:solidFill>
                <a:latin typeface="Segoe UI"/>
                <a:ea typeface="Microsoft YaHei"/>
              </a:rPr>
              <a:t>·</a:t>
            </a:r>
            <a:r>
              <a:rPr sz="1600" b="0" i="1">
                <a:solidFill>
                  <a:srgbClr val="172E36"/>
                </a:solidFill>
                <a:latin typeface="Segoe UI"/>
                <a:ea typeface="Microsoft YaHei"/>
              </a:rPr>
              <a:t>H</a:t>
            </a:r>
            <a:r>
              <a:rPr sz="1152" b="0" i="0" baseline="-25000">
                <a:solidFill>
                  <a:srgbClr val="172E36"/>
                </a:solidFill>
                <a:latin typeface="Segoe UI"/>
                <a:ea typeface="Microsoft YaHei"/>
              </a:rPr>
              <a:t>ext</a:t>
            </a:r>
            <a:r>
              <a:rPr sz="1600" b="0" i="0">
                <a:solidFill>
                  <a:srgbClr val="172E36"/>
                </a:solidFill>
                <a:latin typeface="Segoe UI"/>
                <a:ea typeface="Microsoft YaHei"/>
              </a:rPr>
              <a:t> d</a:t>
            </a:r>
            <a:r>
              <a:rPr sz="1600" b="0" i="1">
                <a:solidFill>
                  <a:srgbClr val="172E36"/>
                </a:solidFill>
                <a:latin typeface="Segoe UI"/>
                <a:ea typeface="Microsoft YaHei"/>
              </a:rPr>
              <a:t>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4574" y="4736592"/>
            <a:ext cx="490667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磁化与外场同向时最低；撤场后该项为零。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77840"/>
            <a:ext cx="10911535" cy="566928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577840"/>
            <a:ext cx="10500055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72E36"/>
                </a:solidFill>
                <a:latin typeface="Segoe UI"/>
                <a:ea typeface="Microsoft YaHei"/>
              </a:rPr>
              <a:t>畴壁参数：Δ = √(A/K)，δ</a:t>
            </a:r>
            <a:r>
              <a:rPr sz="719" b="0" i="0" baseline="-25000">
                <a:solidFill>
                  <a:srgbClr val="172E36"/>
                </a:solidFill>
                <a:latin typeface="Segoe UI"/>
                <a:ea typeface="Microsoft YaHei"/>
              </a:rPr>
              <a:t>wall</a:t>
            </a:r>
            <a:r>
              <a:rPr sz="1000" b="0" i="0">
                <a:solidFill>
                  <a:srgbClr val="172E36"/>
                </a:solidFill>
                <a:latin typeface="Segoe UI"/>
                <a:ea typeface="Microsoft YaHei"/>
              </a:rPr>
              <a:t> = πΔ，σ</a:t>
            </a:r>
            <a:r>
              <a:rPr sz="719" b="0" i="0" baseline="-25000">
                <a:solidFill>
                  <a:srgbClr val="172E36"/>
                </a:solidFill>
                <a:latin typeface="Segoe UI"/>
                <a:ea typeface="Microsoft YaHei"/>
              </a:rPr>
              <a:t>wall</a:t>
            </a:r>
            <a:r>
              <a:rPr sz="1000" b="0" i="0">
                <a:solidFill>
                  <a:srgbClr val="172E36"/>
                </a:solidFill>
                <a:latin typeface="Segoe UI"/>
                <a:ea typeface="Microsoft YaHei"/>
              </a:rPr>
              <a:t> = 4√(AK)；壁越窄，单位面积畴壁能越高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03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判据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面外稳定性取决于各向异性能与退磁能之差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10512"/>
            <a:ext cx="10911535" cy="1298448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911095"/>
            <a:ext cx="10472623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136C69"/>
                </a:solidFill>
                <a:latin typeface="Segoe UI"/>
                <a:ea typeface="Microsoft YaHei"/>
              </a:rPr>
              <a:t>有效各向异性 = 各向异性能 − 退磁能之差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76272"/>
            <a:ext cx="10545775" cy="8869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72E36"/>
                </a:solidFill>
                <a:latin typeface="Segoe UI"/>
                <a:ea typeface="Microsoft YaHei"/>
              </a:rPr>
              <a:t>K</a:t>
            </a:r>
            <a:r>
              <a:rPr sz="1728" b="0" i="0" baseline="-25000">
                <a:solidFill>
                  <a:srgbClr val="172E36"/>
                </a:solidFill>
                <a:latin typeface="Segoe UI"/>
                <a:ea typeface="Microsoft YaHei"/>
              </a:rPr>
              <a:t>eff</a:t>
            </a:r>
            <a:r>
              <a:rPr sz="2400" b="0" i="0">
                <a:solidFill>
                  <a:srgbClr val="172E36"/>
                </a:solidFill>
                <a:latin typeface="Segoe UI"/>
                <a:ea typeface="Microsoft YaHei"/>
              </a:rPr>
              <a:t> = </a:t>
            </a:r>
            <a:r>
              <a:rPr sz="2400" b="0" i="1">
                <a:solidFill>
                  <a:srgbClr val="172E36"/>
                </a:solidFill>
                <a:latin typeface="Segoe UI"/>
                <a:ea typeface="Microsoft YaHei"/>
              </a:rPr>
              <a:t>K</a:t>
            </a:r>
            <a:r>
              <a:rPr sz="1728" b="0" i="0" baseline="-25000">
                <a:solidFill>
                  <a:srgbClr val="172E36"/>
                </a:solidFill>
                <a:latin typeface="Segoe UI"/>
                <a:ea typeface="Microsoft YaHei"/>
              </a:rPr>
              <a:t>u</a:t>
            </a:r>
            <a:r>
              <a:rPr sz="2400" b="0" i="0">
                <a:solidFill>
                  <a:srgbClr val="172E36"/>
                </a:solidFill>
                <a:latin typeface="Segoe UI"/>
                <a:ea typeface="Microsoft YaHei"/>
              </a:rPr>
              <a:t> − (μ</a:t>
            </a:r>
            <a:r>
              <a:rPr sz="1728" b="0" i="0" baseline="-25000">
                <a:solidFill>
                  <a:srgbClr val="172E36"/>
                </a:solidFill>
                <a:latin typeface="Segoe UI"/>
                <a:ea typeface="Microsoft YaHei"/>
              </a:rPr>
              <a:t>0</a:t>
            </a:r>
            <a:r>
              <a:rPr sz="2400" b="0" i="1">
                <a:solidFill>
                  <a:srgbClr val="172E36"/>
                </a:solidFill>
                <a:latin typeface="Segoe UI"/>
                <a:ea typeface="Microsoft YaHei"/>
              </a:rPr>
              <a:t>M</a:t>
            </a:r>
            <a:r>
              <a:rPr sz="1728" b="0" i="0" baseline="-25000">
                <a:solidFill>
                  <a:srgbClr val="172E36"/>
                </a:solidFill>
                <a:latin typeface="Segoe UI"/>
                <a:ea typeface="Microsoft YaHei"/>
              </a:rPr>
              <a:t>s</a:t>
            </a:r>
            <a:r>
              <a:rPr sz="2400" b="0" i="0">
                <a:solidFill>
                  <a:srgbClr val="172E36"/>
                </a:solidFill>
                <a:latin typeface="Segoe UI"/>
                <a:ea typeface="Microsoft YaHei"/>
              </a:rPr>
              <a:t>²/2)(N</a:t>
            </a:r>
            <a:r>
              <a:rPr sz="1728" b="0" i="0" baseline="-25000">
                <a:solidFill>
                  <a:srgbClr val="172E36"/>
                </a:solidFill>
                <a:latin typeface="Segoe UI"/>
                <a:ea typeface="Microsoft YaHei"/>
              </a:rPr>
              <a:t>z</a:t>
            </a:r>
            <a:r>
              <a:rPr sz="2400" b="0" i="0">
                <a:solidFill>
                  <a:srgbClr val="172E36"/>
                </a:solidFill>
                <a:latin typeface="Segoe UI"/>
                <a:ea typeface="Microsoft YaHei"/>
              </a:rPr>
              <a:t> − </a:t>
            </a:r>
            <a:r>
              <a:rPr sz="2400" b="0" i="1">
                <a:solidFill>
                  <a:srgbClr val="172E36"/>
                </a:solidFill>
                <a:latin typeface="Segoe UI"/>
                <a:ea typeface="Microsoft YaHei"/>
              </a:rPr>
              <a:t>N</a:t>
            </a:r>
            <a:r>
              <a:rPr sz="1728" b="0" i="0" baseline="-25000">
                <a:solidFill>
                  <a:srgbClr val="172E36"/>
                </a:solidFill>
                <a:latin typeface="Segoe UI"/>
                <a:ea typeface="Microsoft YaHei"/>
              </a:rPr>
              <a:t>x</a:t>
            </a:r>
            <a:r>
              <a:rPr sz="2400" b="0" i="0">
                <a:solidFill>
                  <a:srgbClr val="172E36"/>
                </a:solidFill>
                <a:latin typeface="Segoe UI"/>
                <a:ea typeface="Microsoft YaHei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10128"/>
            <a:ext cx="58064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419856"/>
            <a:ext cx="53949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136C69"/>
                </a:solidFill>
                <a:latin typeface="Segoe UI"/>
                <a:ea typeface="Microsoft YaHei"/>
              </a:rPr>
              <a:t>条件（两种写法等价）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94176"/>
            <a:ext cx="539496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3A4A50"/>
                </a:solidFill>
                <a:latin typeface="Segoe UI"/>
                <a:ea typeface="Microsoft YaHei"/>
              </a:rPr>
              <a:t>K</a:t>
            </a:r>
            <a:r>
              <a:rPr sz="1008" b="0" i="0" baseline="-25000">
                <a:solidFill>
                  <a:srgbClr val="3A4A50"/>
                </a:solidFill>
                <a:latin typeface="Segoe UI"/>
                <a:ea typeface="Microsoft YaHei"/>
              </a:rPr>
              <a:t>u</a:t>
            </a:r>
            <a:r>
              <a:rPr sz="1400" b="0" i="0">
                <a:solidFill>
                  <a:srgbClr val="3A4A50"/>
                </a:solidFill>
                <a:latin typeface="Segoe UI"/>
                <a:ea typeface="Microsoft YaHei"/>
              </a:rPr>
              <a:t> &gt; (μ</a:t>
            </a:r>
            <a:r>
              <a:rPr sz="1008" b="0" i="0" baseline="-25000">
                <a:solidFill>
                  <a:srgbClr val="3A4A50"/>
                </a:solidFill>
                <a:latin typeface="Segoe UI"/>
                <a:ea typeface="Microsoft YaHei"/>
              </a:rPr>
              <a:t>0</a:t>
            </a:r>
            <a:r>
              <a:rPr sz="1400" b="0" i="1">
                <a:solidFill>
                  <a:srgbClr val="3A4A50"/>
                </a:solidFill>
                <a:latin typeface="Segoe UI"/>
                <a:ea typeface="Microsoft YaHei"/>
              </a:rPr>
              <a:t>M</a:t>
            </a:r>
            <a:r>
              <a:rPr sz="1008" b="0" i="0" baseline="-25000">
                <a:solidFill>
                  <a:srgbClr val="3A4A50"/>
                </a:solidFill>
                <a:latin typeface="Segoe UI"/>
                <a:ea typeface="Microsoft YaHei"/>
              </a:rPr>
              <a:t>s</a:t>
            </a:r>
            <a:r>
              <a:rPr sz="1400" b="0" i="0">
                <a:solidFill>
                  <a:srgbClr val="3A4A50"/>
                </a:solidFill>
                <a:latin typeface="Segoe UI"/>
                <a:ea typeface="Microsoft YaHei"/>
              </a:rPr>
              <a:t>²/2)(N</a:t>
            </a:r>
            <a:r>
              <a:rPr sz="1008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400" b="0" i="0">
                <a:solidFill>
                  <a:srgbClr val="3A4A50"/>
                </a:solidFill>
                <a:latin typeface="Segoe UI"/>
                <a:ea typeface="Microsoft YaHei"/>
              </a:rPr>
              <a:t> − N</a:t>
            </a:r>
            <a:r>
              <a:rPr sz="1008" b="0" i="0" baseline="-25000">
                <a:solidFill>
                  <a:srgbClr val="3A4A50"/>
                </a:solidFill>
                <a:latin typeface="Segoe UI"/>
                <a:ea typeface="Microsoft YaHei"/>
              </a:rPr>
              <a:t>x</a:t>
            </a:r>
            <a:r>
              <a:rPr sz="1400" b="0" i="0">
                <a:solidFill>
                  <a:srgbClr val="3A4A50"/>
                </a:solidFill>
                <a:latin typeface="Segoe UI"/>
                <a:ea typeface="Microsoft YaHei"/>
              </a:rPr>
              <a:t>)</a:t>
            </a:r>
          </a:p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3A4A50"/>
                </a:solidFill>
                <a:latin typeface="Segoe UI"/>
                <a:ea typeface="Microsoft YaHei"/>
              </a:rPr>
              <a:t>Q</a:t>
            </a:r>
            <a:r>
              <a:rPr sz="1400" b="0" i="0">
                <a:solidFill>
                  <a:srgbClr val="3A4A50"/>
                </a:solidFill>
                <a:latin typeface="Segoe UI"/>
                <a:ea typeface="Microsoft YaHei"/>
              </a:rPr>
              <a:t> = 2</a:t>
            </a:r>
            <a:r>
              <a:rPr sz="1400" b="0" i="1">
                <a:solidFill>
                  <a:srgbClr val="3A4A50"/>
                </a:solidFill>
                <a:latin typeface="Segoe UI"/>
                <a:ea typeface="Microsoft YaHei"/>
              </a:rPr>
              <a:t>K</a:t>
            </a:r>
            <a:r>
              <a:rPr sz="1008" b="0" i="0" baseline="-25000">
                <a:solidFill>
                  <a:srgbClr val="3A4A50"/>
                </a:solidFill>
                <a:latin typeface="Segoe UI"/>
                <a:ea typeface="Microsoft YaHei"/>
              </a:rPr>
              <a:t>u</a:t>
            </a:r>
            <a:r>
              <a:rPr sz="1400" b="0" i="0">
                <a:solidFill>
                  <a:srgbClr val="3A4A50"/>
                </a:solidFill>
                <a:latin typeface="Segoe UI"/>
                <a:ea typeface="Microsoft YaHei"/>
              </a:rPr>
              <a:t> / (μ</a:t>
            </a:r>
            <a:r>
              <a:rPr sz="1008" b="0" i="0" baseline="-25000">
                <a:solidFill>
                  <a:srgbClr val="3A4A50"/>
                </a:solidFill>
                <a:latin typeface="Segoe UI"/>
                <a:ea typeface="Microsoft YaHei"/>
              </a:rPr>
              <a:t>0</a:t>
            </a:r>
            <a:r>
              <a:rPr sz="1400" b="0" i="1">
                <a:solidFill>
                  <a:srgbClr val="3A4A50"/>
                </a:solidFill>
                <a:latin typeface="Segoe UI"/>
                <a:ea typeface="Microsoft YaHei"/>
              </a:rPr>
              <a:t>M</a:t>
            </a:r>
            <a:r>
              <a:rPr sz="1008" b="0" i="0" baseline="-25000">
                <a:solidFill>
                  <a:srgbClr val="3A4A50"/>
                </a:solidFill>
                <a:latin typeface="Segoe UI"/>
                <a:ea typeface="Microsoft YaHei"/>
              </a:rPr>
              <a:t>s</a:t>
            </a:r>
            <a:r>
              <a:rPr sz="1400" b="0" i="0">
                <a:solidFill>
                  <a:srgbClr val="3A4A50"/>
                </a:solidFill>
                <a:latin typeface="Segoe UI"/>
                <a:ea typeface="Microsoft YaHei"/>
              </a:rPr>
              <a:t>²) ⇒ </a:t>
            </a:r>
            <a:r>
              <a:rPr sz="1400" b="0" i="1">
                <a:solidFill>
                  <a:srgbClr val="3A4A50"/>
                </a:solidFill>
                <a:latin typeface="Segoe UI"/>
                <a:ea typeface="Microsoft YaHei"/>
              </a:rPr>
              <a:t>Q</a:t>
            </a:r>
            <a:r>
              <a:rPr sz="1400" b="0" i="0">
                <a:solidFill>
                  <a:srgbClr val="3A4A50"/>
                </a:solidFill>
                <a:latin typeface="Segoe UI"/>
                <a:ea typeface="Microsoft YaHei"/>
              </a:rPr>
              <a:t>(N</a:t>
            </a:r>
            <a:r>
              <a:rPr sz="1008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400" b="0" i="0">
                <a:solidFill>
                  <a:srgbClr val="3A4A50"/>
                </a:solidFill>
                <a:latin typeface="Segoe UI"/>
                <a:ea typeface="Microsoft YaHei"/>
              </a:rPr>
              <a:t> − </a:t>
            </a:r>
            <a:r>
              <a:rPr sz="1400" b="0" i="1">
                <a:solidFill>
                  <a:srgbClr val="3A4A50"/>
                </a:solidFill>
                <a:latin typeface="Segoe UI"/>
                <a:ea typeface="Microsoft YaHei"/>
              </a:rPr>
              <a:t>N</a:t>
            </a:r>
            <a:r>
              <a:rPr sz="1008" b="0" i="0" baseline="-25000">
                <a:solidFill>
                  <a:srgbClr val="3A4A50"/>
                </a:solidFill>
                <a:latin typeface="Segoe UI"/>
                <a:ea typeface="Microsoft YaHei"/>
              </a:rPr>
              <a:t>x</a:t>
            </a:r>
            <a:r>
              <a:rPr sz="1400" b="0" i="0">
                <a:solidFill>
                  <a:srgbClr val="3A4A50"/>
                </a:solidFill>
                <a:latin typeface="Segoe UI"/>
                <a:ea typeface="Microsoft YaHei"/>
              </a:rPr>
              <a:t>) &gt;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3310128"/>
            <a:ext cx="482803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356616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3676D"/>
                </a:solidFill>
                <a:latin typeface="Segoe UI"/>
                <a:ea typeface="Microsoft YaHei"/>
              </a:rPr>
              <a:t>各向异性能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56616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8.00×10</a:t>
            </a:r>
            <a:r>
              <a:rPr sz="864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 J/m³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96849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3676D"/>
                </a:solidFill>
                <a:latin typeface="Segoe UI"/>
                <a:ea typeface="Microsoft YaHei"/>
              </a:rPr>
              <a:t>退磁能之差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968496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5.15×10</a:t>
            </a:r>
            <a:r>
              <a:rPr sz="864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 J/m³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37083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3676D"/>
                </a:solidFill>
                <a:latin typeface="Segoe UI"/>
                <a:ea typeface="Microsoft YaHei"/>
              </a:rPr>
              <a:t>有效各向异性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370832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36C69"/>
                </a:solidFill>
                <a:latin typeface="Segoe UI"/>
                <a:ea typeface="Microsoft YaHei"/>
              </a:rPr>
              <a:t>2.85×10</a:t>
            </a:r>
            <a:r>
              <a:rPr sz="864" b="1" i="0" baseline="30000">
                <a:solidFill>
                  <a:srgbClr val="136C69"/>
                </a:solidFill>
                <a:latin typeface="Segoe UI"/>
                <a:ea typeface="Microsoft YaHei"/>
              </a:rPr>
              <a:t>4</a:t>
            </a:r>
            <a:r>
              <a:rPr sz="1200" b="1" i="0">
                <a:solidFill>
                  <a:srgbClr val="136C69"/>
                </a:solidFill>
                <a:latin typeface="Segoe UI"/>
                <a:ea typeface="Microsoft YaHei"/>
              </a:rPr>
              <a:t> J/m³ &gt;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38928"/>
            <a:ext cx="10911535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仅对均匀态成立：</a:t>
            </a:r>
            <a:r>
              <a:rPr sz="1100" b="0" i="1">
                <a:solidFill>
                  <a:srgbClr val="3A4A50"/>
                </a:solidFill>
                <a:latin typeface="Segoe UI"/>
                <a:ea typeface="Microsoft YaHei"/>
              </a:rPr>
              <a:t>K</a:t>
            </a:r>
            <a:r>
              <a:rPr sz="792" b="0" i="0" baseline="-25000">
                <a:solidFill>
                  <a:srgbClr val="3A4A50"/>
                </a:solidFill>
                <a:latin typeface="Segoe UI"/>
                <a:ea typeface="Microsoft YaHei"/>
              </a:rPr>
              <a:t>eff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&gt; 0 表示面外取向能量更低，不保证单畴；分畴可进一步降低退磁能。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6072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36C69"/>
                </a:solidFill>
                <a:latin typeface="Segoe UI"/>
                <a:ea typeface="Microsoft YaHei"/>
              </a:rPr>
              <a:t>解析给出均匀态的能量判据；畴结构与翻转过程须由微磁学模拟给出。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04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尺度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交换长度决定网格尺度，畴壁宽度决定分辨率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10512"/>
            <a:ext cx="5345582" cy="15179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901952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136C69"/>
                </a:solidFill>
                <a:latin typeface="Segoe UI"/>
                <a:ea typeface="Microsoft YaHei"/>
              </a:rPr>
              <a:t>交换长度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39696"/>
            <a:ext cx="490667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172E36"/>
                </a:solidFill>
                <a:latin typeface="Segoe UI"/>
                <a:ea typeface="Microsoft YaHei"/>
              </a:rPr>
              <a:t>ℓ</a:t>
            </a:r>
            <a:r>
              <a:rPr sz="1080" b="0" i="0" baseline="-25000">
                <a:solidFill>
                  <a:srgbClr val="172E36"/>
                </a:solidFill>
                <a:latin typeface="Segoe UI"/>
                <a:ea typeface="Microsoft YaHei"/>
              </a:rPr>
              <a:t>ex</a:t>
            </a:r>
            <a:r>
              <a:rPr sz="1500" b="0" i="0">
                <a:solidFill>
                  <a:srgbClr val="172E36"/>
                </a:solidFill>
                <a:latin typeface="Segoe UI"/>
                <a:ea typeface="Microsoft YaHei"/>
              </a:rPr>
              <a:t> = √(2</a:t>
            </a:r>
            <a:r>
              <a:rPr sz="1500" b="0" i="1">
                <a:solidFill>
                  <a:srgbClr val="172E36"/>
                </a:solidFill>
                <a:latin typeface="Segoe UI"/>
                <a:ea typeface="Microsoft YaHei"/>
              </a:rPr>
              <a:t>A</a:t>
            </a:r>
            <a:r>
              <a:rPr sz="1500" b="0" i="0">
                <a:solidFill>
                  <a:srgbClr val="172E36"/>
                </a:solidFill>
                <a:latin typeface="Segoe UI"/>
                <a:ea typeface="Microsoft YaHei"/>
              </a:rPr>
              <a:t>/(μ</a:t>
            </a:r>
            <a:r>
              <a:rPr sz="1080" b="0" i="0" baseline="-25000">
                <a:solidFill>
                  <a:srgbClr val="172E36"/>
                </a:solidFill>
                <a:latin typeface="Segoe UI"/>
                <a:ea typeface="Microsoft YaHei"/>
              </a:rPr>
              <a:t>0</a:t>
            </a:r>
            <a:r>
              <a:rPr sz="1500" b="0" i="1">
                <a:solidFill>
                  <a:srgbClr val="172E36"/>
                </a:solidFill>
                <a:latin typeface="Segoe UI"/>
                <a:ea typeface="Microsoft YaHei"/>
              </a:rPr>
              <a:t>M</a:t>
            </a:r>
            <a:r>
              <a:rPr sz="1080" b="0" i="0" baseline="-25000">
                <a:solidFill>
                  <a:srgbClr val="172E36"/>
                </a:solidFill>
                <a:latin typeface="Segoe UI"/>
                <a:ea typeface="Microsoft YaHei"/>
              </a:rPr>
              <a:t>s</a:t>
            </a:r>
            <a:r>
              <a:rPr sz="1500" b="0" i="0">
                <a:solidFill>
                  <a:srgbClr val="172E36"/>
                </a:solidFill>
                <a:latin typeface="Segoe UI"/>
                <a:ea typeface="Microsoft YaHei"/>
              </a:rPr>
              <a:t>²)) ≈ </a:t>
            </a: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9.4 nm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51760"/>
            <a:ext cx="490667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磁化转向的特征长度；网格应显著小于该值。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6032" y="1810512"/>
            <a:ext cx="5345582" cy="15179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901952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136C69"/>
                </a:solidFill>
                <a:latin typeface="Segoe UI"/>
                <a:ea typeface="Microsoft YaHei"/>
              </a:rPr>
              <a:t>网格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39696"/>
            <a:ext cx="490667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E36"/>
                </a:solidFill>
                <a:latin typeface="Segoe UI"/>
                <a:ea typeface="Microsoft YaHei"/>
              </a:rPr>
              <a:t>2 nm → 1 nm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651760"/>
            <a:ext cx="490667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以 2 nm 起步；关键结果用 1 nm 复核。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11296"/>
            <a:ext cx="5345582" cy="15179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602736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136C69"/>
                </a:solidFill>
                <a:latin typeface="Segoe UI"/>
                <a:ea typeface="Microsoft YaHei"/>
              </a:rPr>
              <a:t>畴壁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3840480"/>
            <a:ext cx="490667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72E36"/>
                </a:solidFill>
                <a:latin typeface="Segoe UI"/>
                <a:ea typeface="Microsoft YaHei"/>
              </a:rPr>
              <a:t>Δ = √(</a:t>
            </a:r>
            <a:r>
              <a:rPr sz="1400" b="0" i="1">
                <a:solidFill>
                  <a:srgbClr val="172E36"/>
                </a:solidFill>
                <a:latin typeface="Segoe UI"/>
                <a:ea typeface="Microsoft YaHei"/>
              </a:rPr>
              <a:t>A</a:t>
            </a:r>
            <a:r>
              <a:rPr sz="1400" b="0" i="0">
                <a:solidFill>
                  <a:srgbClr val="172E36"/>
                </a:solidFill>
                <a:latin typeface="Segoe UI"/>
                <a:ea typeface="Microsoft YaHei"/>
              </a:rPr>
              <a:t>/</a:t>
            </a:r>
            <a:r>
              <a:rPr sz="1400" b="0" i="1">
                <a:solidFill>
                  <a:srgbClr val="172E36"/>
                </a:solidFill>
                <a:latin typeface="Segoe UI"/>
                <a:ea typeface="Microsoft YaHei"/>
              </a:rPr>
              <a:t>K</a:t>
            </a:r>
            <a:r>
              <a:rPr sz="1400" b="0" i="0">
                <a:solidFill>
                  <a:srgbClr val="172E36"/>
                </a:solidFill>
                <a:latin typeface="Segoe UI"/>
                <a:ea typeface="Microsoft YaHei"/>
              </a:rPr>
              <a:t>)，δ</a:t>
            </a:r>
            <a:r>
              <a:rPr sz="1008" b="0" i="0" baseline="-25000">
                <a:solidFill>
                  <a:srgbClr val="172E36"/>
                </a:solidFill>
                <a:latin typeface="Segoe UI"/>
                <a:ea typeface="Microsoft YaHei"/>
              </a:rPr>
              <a:t>wall</a:t>
            </a:r>
            <a:r>
              <a:rPr sz="1400" b="0" i="0">
                <a:solidFill>
                  <a:srgbClr val="172E36"/>
                </a:solidFill>
                <a:latin typeface="Segoe UI"/>
                <a:ea typeface="Microsoft YaHei"/>
              </a:rPr>
              <a:t> = πΔ ≈ </a:t>
            </a:r>
            <a:r>
              <a:rPr sz="1400" b="1" i="0">
                <a:solidFill>
                  <a:srgbClr val="172E36"/>
                </a:solidFill>
                <a:latin typeface="Segoe UI"/>
                <a:ea typeface="Microsoft YaHei"/>
              </a:rPr>
              <a:t>25 nm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352544"/>
            <a:ext cx="490667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壁宽定义不唯一（Δ 或 πΔ），引用文献前需核对。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6032" y="3511296"/>
            <a:ext cx="5345582" cy="15179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602736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136C69"/>
                </a:solidFill>
                <a:latin typeface="Segoe UI"/>
                <a:ea typeface="Microsoft YaHei"/>
              </a:rPr>
              <a:t>分辨率判断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3840480"/>
            <a:ext cx="490667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≥ 3–5 格 / 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4352544"/>
            <a:ext cx="490667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单一网格结果不足以判定收敛，至少比较两种网格。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3036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3676D"/>
                </a:solidFill>
                <a:latin typeface="Segoe UI"/>
                <a:ea typeface="Microsoft YaHei"/>
              </a:rPr>
              <a:t>本参数：</a:t>
            </a:r>
            <a:r>
              <a:rPr sz="1000" b="0" i="1">
                <a:solidFill>
                  <a:srgbClr val="53676D"/>
                </a:solidFill>
                <a:latin typeface="Segoe UI"/>
                <a:ea typeface="Microsoft YaHei"/>
              </a:rPr>
              <a:t>M</a:t>
            </a:r>
            <a:r>
              <a:rPr sz="719" b="0" i="0" baseline="-25000">
                <a:solidFill>
                  <a:srgbClr val="53676D"/>
                </a:solidFill>
                <a:latin typeface="Segoe UI"/>
                <a:ea typeface="Microsoft YaHei"/>
              </a:rPr>
              <a:t>s</a:t>
            </a:r>
            <a:r>
              <a:rPr sz="1000" b="0" i="0">
                <a:solidFill>
                  <a:srgbClr val="53676D"/>
                </a:solidFill>
                <a:latin typeface="Segoe UI"/>
                <a:ea typeface="Microsoft YaHei"/>
              </a:rPr>
              <a:t> = 3×10⁵ A/m，</a:t>
            </a:r>
            <a:r>
              <a:rPr sz="1000" b="0" i="1">
                <a:solidFill>
                  <a:srgbClr val="53676D"/>
                </a:solidFill>
                <a:latin typeface="Segoe UI"/>
                <a:ea typeface="Microsoft YaHei"/>
              </a:rPr>
              <a:t>A</a:t>
            </a:r>
            <a:r>
              <a:rPr sz="1000" b="0" i="0">
                <a:solidFill>
                  <a:srgbClr val="53676D"/>
                </a:solidFill>
                <a:latin typeface="Segoe UI"/>
                <a:ea typeface="Microsoft YaHei"/>
              </a:rPr>
              <a:t> = 5 pJ/m，</a:t>
            </a:r>
            <a:r>
              <a:rPr sz="1000" b="0" i="1">
                <a:solidFill>
                  <a:srgbClr val="53676D"/>
                </a:solidFill>
                <a:latin typeface="Segoe UI"/>
                <a:ea typeface="Microsoft YaHei"/>
              </a:rPr>
              <a:t>K</a:t>
            </a:r>
            <a:r>
              <a:rPr sz="719" b="0" i="0" baseline="-25000">
                <a:solidFill>
                  <a:srgbClr val="53676D"/>
                </a:solidFill>
                <a:latin typeface="Segoe UI"/>
                <a:ea typeface="Microsoft YaHei"/>
              </a:rPr>
              <a:t>u</a:t>
            </a:r>
            <a:r>
              <a:rPr sz="1000" b="0" i="0">
                <a:solidFill>
                  <a:srgbClr val="53676D"/>
                </a:solidFill>
                <a:latin typeface="Segoe UI"/>
                <a:ea typeface="Microsoft YaHei"/>
              </a:rPr>
              <a:t> = 8×10⁴ J/m³；σ</a:t>
            </a:r>
            <a:r>
              <a:rPr sz="719" b="0" i="0" baseline="-25000">
                <a:solidFill>
                  <a:srgbClr val="53676D"/>
                </a:solidFill>
                <a:latin typeface="Segoe UI"/>
                <a:ea typeface="Microsoft YaHei"/>
              </a:rPr>
              <a:t>wall</a:t>
            </a:r>
            <a:r>
              <a:rPr sz="1000" b="0" i="0">
                <a:solidFill>
                  <a:srgbClr val="53676D"/>
                </a:solidFill>
                <a:latin typeface="Segoe UI"/>
                <a:ea typeface="Microsoft YaHei"/>
              </a:rPr>
              <a:t> = 4√(AK) ≈ 2.5×10⁻³ J/m²。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650992"/>
            <a:ext cx="10911535" cy="54864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650992"/>
            <a:ext cx="1050005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72E36"/>
                </a:solidFill>
                <a:latin typeface="Segoe UI"/>
                <a:ea typeface="Microsoft YaHei"/>
              </a:rPr>
              <a:t>经验判据：格距 ≤ </a:t>
            </a:r>
            <a:r>
              <a:rPr sz="1000" b="0" i="1">
                <a:solidFill>
                  <a:srgbClr val="172E36"/>
                </a:solidFill>
                <a:latin typeface="Segoe UI"/>
                <a:ea typeface="Microsoft YaHei"/>
              </a:rPr>
              <a:t>ℓ</a:t>
            </a:r>
            <a:r>
              <a:rPr sz="719" b="0" i="0" baseline="-25000">
                <a:solidFill>
                  <a:srgbClr val="172E36"/>
                </a:solidFill>
                <a:latin typeface="Segoe UI"/>
                <a:ea typeface="Microsoft YaHei"/>
              </a:rPr>
              <a:t>ex</a:t>
            </a:r>
            <a:r>
              <a:rPr sz="1000" b="0" i="0">
                <a:solidFill>
                  <a:srgbClr val="172E36"/>
                </a:solidFill>
                <a:latin typeface="Segoe UI"/>
                <a:ea typeface="Microsoft YaHei"/>
              </a:rPr>
              <a:t>/4，且畴壁内不少于 3–5 个格点；取二者中较严者。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05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动力学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磁化动力学：绕有效场进动，并由阻尼趋向低能态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11535" cy="96012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883664"/>
            <a:ext cx="10472623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136C69"/>
                </a:solidFill>
                <a:latin typeface="Segoe UI"/>
                <a:ea typeface="Microsoft YaHei"/>
              </a:rPr>
              <a:t>有效场：能量对磁化求导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48840"/>
            <a:ext cx="10545775" cy="5486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172E36"/>
                </a:solidFill>
                <a:latin typeface="Segoe UI"/>
                <a:ea typeface="Microsoft YaHei"/>
              </a:rPr>
              <a:t>H</a:t>
            </a:r>
            <a:r>
              <a:rPr sz="1296" b="0" i="0" baseline="-25000">
                <a:solidFill>
                  <a:srgbClr val="172E36"/>
                </a:solidFill>
                <a:latin typeface="Segoe UI"/>
                <a:ea typeface="Microsoft YaHei"/>
              </a:rPr>
              <a:t>eff</a:t>
            </a:r>
            <a:r>
              <a:rPr sz="1800" b="0" i="0">
                <a:solidFill>
                  <a:srgbClr val="172E36"/>
                </a:solidFill>
                <a:latin typeface="Segoe UI"/>
                <a:ea typeface="Microsoft YaHei"/>
              </a:rPr>
              <a:t> = −(1/μ</a:t>
            </a:r>
            <a:r>
              <a:rPr sz="1296" b="0" i="0" baseline="-25000">
                <a:solidFill>
                  <a:srgbClr val="172E36"/>
                </a:solidFill>
                <a:latin typeface="Segoe UI"/>
                <a:ea typeface="Microsoft YaHei"/>
              </a:rPr>
              <a:t>0</a:t>
            </a:r>
            <a:r>
              <a:rPr sz="1800" b="0" i="1">
                <a:solidFill>
                  <a:srgbClr val="172E36"/>
                </a:solidFill>
                <a:latin typeface="Segoe UI"/>
                <a:ea typeface="Microsoft YaHei"/>
              </a:rPr>
              <a:t>M</a:t>
            </a:r>
            <a:r>
              <a:rPr sz="1296" b="0" i="0" baseline="-25000">
                <a:solidFill>
                  <a:srgbClr val="172E36"/>
                </a:solidFill>
                <a:latin typeface="Segoe UI"/>
                <a:ea typeface="Microsoft YaHei"/>
              </a:rPr>
              <a:t>s</a:t>
            </a:r>
            <a:r>
              <a:rPr sz="1800" b="0" i="0">
                <a:solidFill>
                  <a:srgbClr val="172E36"/>
                </a:solidFill>
                <a:latin typeface="Segoe UI"/>
                <a:ea typeface="Microsoft YaHei"/>
              </a:rPr>
              <a:t>) δ</a:t>
            </a:r>
            <a:r>
              <a:rPr sz="1800" b="0" i="1">
                <a:solidFill>
                  <a:srgbClr val="172E36"/>
                </a:solidFill>
                <a:latin typeface="Segoe UI"/>
                <a:ea typeface="Microsoft YaHei"/>
              </a:rPr>
              <a:t>E</a:t>
            </a:r>
            <a:r>
              <a:rPr sz="1800" b="0" i="0">
                <a:solidFill>
                  <a:srgbClr val="172E36"/>
                </a:solidFill>
                <a:latin typeface="Segoe UI"/>
                <a:ea typeface="Microsoft YaHei"/>
              </a:rPr>
              <a:t>/δ</a:t>
            </a:r>
            <a:r>
              <a:rPr sz="1800" b="0" i="1">
                <a:solidFill>
                  <a:srgbClr val="172E36"/>
                </a:solidFill>
                <a:latin typeface="Segoe UI"/>
                <a:ea typeface="Microsoft YaHei"/>
              </a:rPr>
              <a:t>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2928"/>
            <a:ext cx="10911535" cy="141732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53512"/>
            <a:ext cx="10472623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136C69"/>
                </a:solidFill>
                <a:latin typeface="Segoe UI"/>
                <a:ea typeface="Microsoft YaHei"/>
              </a:rPr>
              <a:t>LLG 方程（显式形式）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8688"/>
            <a:ext cx="10545775" cy="10058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2E36"/>
                </a:solidFill>
                <a:latin typeface="Segoe UI"/>
                <a:ea typeface="Microsoft YaHei"/>
              </a:rPr>
              <a:t>∂</a:t>
            </a:r>
            <a:r>
              <a:rPr sz="1500" b="0" i="1">
                <a:solidFill>
                  <a:srgbClr val="172E36"/>
                </a:solidFill>
                <a:latin typeface="Segoe UI"/>
                <a:ea typeface="Microsoft YaHei"/>
              </a:rPr>
              <a:t>m</a:t>
            </a:r>
            <a:r>
              <a:rPr sz="1500" b="0" i="0">
                <a:solidFill>
                  <a:srgbClr val="172E36"/>
                </a:solidFill>
                <a:latin typeface="Segoe UI"/>
                <a:ea typeface="Microsoft YaHei"/>
              </a:rPr>
              <a:t>/∂</a:t>
            </a:r>
            <a:r>
              <a:rPr sz="1500" b="0" i="1">
                <a:solidFill>
                  <a:srgbClr val="172E36"/>
                </a:solidFill>
                <a:latin typeface="Segoe UI"/>
                <a:ea typeface="Microsoft YaHei"/>
              </a:rPr>
              <a:t>t</a:t>
            </a:r>
            <a:r>
              <a:rPr sz="1500" b="0" i="0">
                <a:solidFill>
                  <a:srgbClr val="172E36"/>
                </a:solidFill>
                <a:latin typeface="Segoe UI"/>
                <a:ea typeface="Microsoft YaHei"/>
              </a:rPr>
              <a:t> = −γ</a:t>
            </a:r>
            <a:r>
              <a:rPr sz="1080" b="0" i="0" baseline="-25000">
                <a:solidFill>
                  <a:srgbClr val="172E36"/>
                </a:solidFill>
                <a:latin typeface="Segoe UI"/>
                <a:ea typeface="Microsoft YaHei"/>
              </a:rPr>
              <a:t>H</a:t>
            </a:r>
            <a:r>
              <a:rPr sz="1500" b="0" i="0">
                <a:solidFill>
                  <a:srgbClr val="172E36"/>
                </a:solidFill>
                <a:latin typeface="Segoe UI"/>
                <a:ea typeface="Microsoft YaHei"/>
              </a:rPr>
              <a:t>/(1+α²)[ </a:t>
            </a:r>
            <a:r>
              <a:rPr sz="1500" b="0" i="1">
                <a:solidFill>
                  <a:srgbClr val="172E36"/>
                </a:solidFill>
                <a:latin typeface="Segoe UI"/>
                <a:ea typeface="Microsoft YaHei"/>
              </a:rPr>
              <a:t>m</a:t>
            </a:r>
            <a:r>
              <a:rPr sz="1500" b="0" i="0">
                <a:solidFill>
                  <a:srgbClr val="172E36"/>
                </a:solidFill>
                <a:latin typeface="Segoe UI"/>
                <a:ea typeface="Microsoft YaHei"/>
              </a:rPr>
              <a:t> × </a:t>
            </a:r>
            <a:r>
              <a:rPr sz="1500" b="0" i="1">
                <a:solidFill>
                  <a:srgbClr val="172E36"/>
                </a:solidFill>
                <a:latin typeface="Segoe UI"/>
                <a:ea typeface="Microsoft YaHei"/>
              </a:rPr>
              <a:t>H</a:t>
            </a:r>
            <a:r>
              <a:rPr sz="1080" b="0" i="0" baseline="-25000">
                <a:solidFill>
                  <a:srgbClr val="172E36"/>
                </a:solidFill>
                <a:latin typeface="Segoe UI"/>
                <a:ea typeface="Microsoft YaHei"/>
              </a:rPr>
              <a:t>eff</a:t>
            </a:r>
            <a:r>
              <a:rPr sz="1500" b="0" i="0">
                <a:solidFill>
                  <a:srgbClr val="172E36"/>
                </a:solidFill>
                <a:latin typeface="Segoe UI"/>
                <a:ea typeface="Microsoft YaHei"/>
              </a:rPr>
              <a:t> + α </a:t>
            </a:r>
            <a:r>
              <a:rPr sz="1500" b="0" i="1">
                <a:solidFill>
                  <a:srgbClr val="172E36"/>
                </a:solidFill>
                <a:latin typeface="Segoe UI"/>
                <a:ea typeface="Microsoft YaHei"/>
              </a:rPr>
              <a:t>m</a:t>
            </a:r>
            <a:r>
              <a:rPr sz="1500" b="0" i="0">
                <a:solidFill>
                  <a:srgbClr val="172E36"/>
                </a:solidFill>
                <a:latin typeface="Segoe UI"/>
                <a:ea typeface="Microsoft YaHei"/>
              </a:rPr>
              <a:t> × (</a:t>
            </a:r>
            <a:r>
              <a:rPr sz="1500" b="0" i="1">
                <a:solidFill>
                  <a:srgbClr val="172E36"/>
                </a:solidFill>
                <a:latin typeface="Segoe UI"/>
                <a:ea typeface="Microsoft YaHei"/>
              </a:rPr>
              <a:t>m</a:t>
            </a:r>
            <a:r>
              <a:rPr sz="1500" b="0" i="0">
                <a:solidFill>
                  <a:srgbClr val="172E36"/>
                </a:solidFill>
                <a:latin typeface="Segoe UI"/>
                <a:ea typeface="Microsoft YaHei"/>
              </a:rPr>
              <a:t> × </a:t>
            </a:r>
            <a:r>
              <a:rPr sz="1500" b="0" i="1">
                <a:solidFill>
                  <a:srgbClr val="172E36"/>
                </a:solidFill>
                <a:latin typeface="Segoe UI"/>
                <a:ea typeface="Microsoft YaHei"/>
              </a:rPr>
              <a:t>H</a:t>
            </a:r>
            <a:r>
              <a:rPr sz="1080" b="0" i="0" baseline="-25000">
                <a:solidFill>
                  <a:srgbClr val="172E36"/>
                </a:solidFill>
                <a:latin typeface="Segoe UI"/>
                <a:ea typeface="Microsoft YaHei"/>
              </a:rPr>
              <a:t>eff</a:t>
            </a:r>
            <a:r>
              <a:rPr sz="1500" b="0" i="0">
                <a:solidFill>
                  <a:srgbClr val="172E36"/>
                </a:solidFill>
                <a:latin typeface="Segoe UI"/>
                <a:ea typeface="Microsoft YaHei"/>
              </a:rPr>
              <a:t>)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434840"/>
            <a:ext cx="534558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526280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136C69"/>
                </a:solidFill>
                <a:latin typeface="Segoe UI"/>
                <a:ea typeface="Microsoft YaHei"/>
              </a:rPr>
              <a:t>两套单位制须配套使用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4791456"/>
            <a:ext cx="490667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H 用 A/m → γ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H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= 2.21×10⁵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μ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0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H 用 T → γ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B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= 1.76×10¹¹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6032" y="4434840"/>
            <a:ext cx="534558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4526280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136C69"/>
                </a:solidFill>
                <a:latin typeface="Segoe UI"/>
                <a:ea typeface="Microsoft YaHei"/>
              </a:rPr>
              <a:t>阻尼系数 α 的作用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4791456"/>
            <a:ext cx="490667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仅改变演化路径与速率，不改变静态能量。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求静态解可令进动项为零；报告翻转时间须实际积分。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06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后续计划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研究计划：先建立基准，再比较形状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10512"/>
            <a:ext cx="2057400" cy="1481328"/>
          </a:xfrm>
          <a:prstGeom prst="roundRect">
            <a:avLst>
              <a:gd name="adj" fmla="val 6000"/>
            </a:avLst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956816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  <a:ea typeface="Microsoft YaHei"/>
              </a:rPr>
              <a:t>理论学习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286000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  <a:ea typeface="Microsoft YaHei"/>
              </a:rPr>
              <a:t>✓ 已完成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15184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  <a:ea typeface="Microsoft YaHei"/>
              </a:rPr>
              <a:t>明确四项能量与适用边界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2928" y="1810512"/>
            <a:ext cx="20574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36C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35808" y="1956816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6C69"/>
                </a:solidFill>
                <a:latin typeface="Segoe UI"/>
                <a:ea typeface="Microsoft YaHei"/>
              </a:rPr>
              <a:t>基准模拟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2286000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36C69"/>
                </a:solidFill>
                <a:latin typeface="Segoe UI"/>
                <a:ea typeface="Microsoft YaHei"/>
              </a:rPr>
              <a:t>当前位置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2615184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A4A50"/>
                </a:solidFill>
                <a:latin typeface="Segoe UI"/>
                <a:ea typeface="Microsoft YaHei"/>
              </a:rPr>
              <a:t>跑通薄膜基准算例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5776" y="1810512"/>
            <a:ext cx="2057400" cy="1481328"/>
          </a:xfrm>
          <a:prstGeom prst="roundRect">
            <a:avLst>
              <a:gd name="adj" fmla="val 6000"/>
            </a:avLst>
          </a:prstGeom>
          <a:solidFill>
            <a:srgbClr val="F3F6F4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8656" y="1956816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3676D"/>
                </a:solidFill>
                <a:latin typeface="Segoe UI"/>
                <a:ea typeface="Microsoft YaHei"/>
              </a:rPr>
              <a:t>形状比较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8656" y="2286000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3676D"/>
                </a:solidFill>
                <a:latin typeface="Segoe UI"/>
                <a:ea typeface="Microsoft YaHei"/>
              </a:rPr>
              <a:t>待启动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615184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方、圆、长条三种轮廓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78624" y="1810512"/>
            <a:ext cx="2057400" cy="1481328"/>
          </a:xfrm>
          <a:prstGeom prst="roundRect">
            <a:avLst>
              <a:gd name="adj" fmla="val 6000"/>
            </a:avLst>
          </a:prstGeom>
          <a:solidFill>
            <a:srgbClr val="F3F6F4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504" y="1956816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3676D"/>
                </a:solidFill>
                <a:latin typeface="Segoe UI"/>
                <a:ea typeface="Microsoft YaHei"/>
              </a:rPr>
              <a:t>数据分析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61504" y="2286000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3676D"/>
                </a:solidFill>
                <a:latin typeface="Segoe UI"/>
                <a:ea typeface="Microsoft YaHei"/>
              </a:rPr>
              <a:t>待启动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2615184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曲线对比与网格收敛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91472" y="1810512"/>
            <a:ext cx="2057400" cy="1481328"/>
          </a:xfrm>
          <a:prstGeom prst="roundRect">
            <a:avLst>
              <a:gd name="adj" fmla="val 6000"/>
            </a:avLst>
          </a:prstGeom>
          <a:solidFill>
            <a:srgbClr val="F3F6F4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1" y="1956816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3676D"/>
                </a:solidFill>
                <a:latin typeface="Segoe UI"/>
                <a:ea typeface="Microsoft YaHei"/>
              </a:rPr>
              <a:t>总结优化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1" y="2286000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3676D"/>
                </a:solidFill>
                <a:latin typeface="Segoe UI"/>
                <a:ea typeface="Microsoft YaHei"/>
              </a:rPr>
              <a:t>待启动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74351" y="2615184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设计建议与总结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456432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136C69"/>
                </a:solidFill>
                <a:latin typeface="Segoe UI"/>
                <a:ea typeface="Microsoft YaHei"/>
              </a:rPr>
              <a:t>近期工作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749039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2E36"/>
                </a:solidFill>
                <a:latin typeface="Segoe UI"/>
                <a:ea typeface="Microsoft YaHei"/>
              </a:rPr>
              <a:t>① 确定求解器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59936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在 OOMMF、WSL+Fidimag、MuMax3 中择一；先验证 CUDA 兼容性。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4256" y="3749039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2E36"/>
                </a:solidFill>
                <a:latin typeface="Segoe UI"/>
                <a:ea typeface="Microsoft YaHei"/>
              </a:rPr>
              <a:t>② 锁定参数与网格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6" y="4059936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参数一次确定并注明来源；网格自 2 nm 起步。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1" y="3749039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2E36"/>
                </a:solidFill>
                <a:latin typeface="Segoe UI"/>
                <a:ea typeface="Microsoft YaHei"/>
              </a:rPr>
              <a:t>③ 静态校验　|ΔN| &lt; 10⁻⁴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28431" y="4059936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沿 x、y、z 分别施加均匀磁化，与解析 N 对比。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532120"/>
            <a:ext cx="10911535" cy="54864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5321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36C69"/>
                </a:solidFill>
                <a:latin typeface="Segoe UI"/>
                <a:ea typeface="Microsoft YaHei"/>
              </a:rPr>
              <a:t>下一步：在求解器中复现同一组 N。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基于微磁学模拟探讨量子反常霍尔效应的退磁场效应</dc:title>
  <dc:subject>核心理论、关键公式与后续计划（5 分钟）</dc:subject>
  <dc:creator>孙煜凡、韦中天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